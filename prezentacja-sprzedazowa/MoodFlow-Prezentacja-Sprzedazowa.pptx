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E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79" y="0"/>
            <a:ext cx="4693615" cy="6858000"/>
          </a:xfrm>
          <a:prstGeom prst="rect">
            <a:avLst/>
          </a:prstGeom>
          <a:solidFill>
            <a:srgbClr val="F4E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6095847" cy="274320"/>
          </a:xfrm>
          <a:prstGeom prst="rect">
            <a:avLst/>
          </a:prstGeom>
          <a:solidFill>
            <a:srgbClr val="2D8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6583680"/>
            <a:ext cx="6095847" cy="274320"/>
          </a:xfrm>
          <a:prstGeom prst="rect">
            <a:avLst/>
          </a:prstGeom>
          <a:solidFill>
            <a:srgbClr val="D4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640080"/>
            <a:ext cx="4471416" cy="384048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D4A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100" b="1">
                <a:solidFill>
                  <a:srgbClr val="D4AD48"/>
                </a:solidFill>
                <a:latin typeface="Garamond"/>
              </a:rPr>
              <a:t>PLATFORMA WELLBEINGU PSYCHICZNEGO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676656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rmAutofit/>
          </a:bodyPr>
          <a:lstStyle/>
          <a:p>
            <a:pPr algn="l"/>
            <a:r>
              <a:rPr sz="9200" b="1" i="0">
                <a:solidFill>
                  <a:srgbClr val="D4AD48"/>
                </a:solidFill>
                <a:latin typeface="Garamond"/>
              </a:rPr>
              <a:t>MoodFlow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676656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Garamond"/>
              </a:rPr>
              <a:t>Mierzymy, rozumiemy i poprawiamy kondycję psychiczną zespołów —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Garamond"/>
              </a:rPr>
              <a:t>regularnie, bezpiecznie i całkowicie anonimowo dla pracownika.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5532120"/>
            <a:ext cx="502920" cy="502920"/>
          </a:xfrm>
          <a:prstGeom prst="ellipse">
            <a:avLst/>
          </a:prstGeom>
          <a:noFill/>
          <a:ln w="31750">
            <a:solidFill>
              <a:srgbClr val="D4A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65810" y="5657850"/>
            <a:ext cx="251460" cy="251460"/>
          </a:xfrm>
          <a:prstGeom prst="ellipse">
            <a:avLst/>
          </a:prstGeom>
          <a:noFill/>
          <a:ln w="22860">
            <a:solidFill>
              <a:srgbClr val="D4A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1306" y="5743346"/>
            <a:ext cx="80467" cy="80467"/>
          </a:xfrm>
          <a:prstGeom prst="ellipse">
            <a:avLst/>
          </a:prstGeom>
          <a:solidFill>
            <a:srgbClr val="D4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5440680"/>
            <a:ext cx="6400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D4AD48"/>
                </a:solidFill>
                <a:latin typeface="Garamond"/>
              </a:rPr>
              <a:t>Mateusz Matczuk  ·  Maksymilian Kwasek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580644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F4E6C2"/>
                </a:solidFill>
                <a:latin typeface="Garamond"/>
              </a:rPr>
              <a:t>Prezentacja produktu ·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1920240"/>
            <a:ext cx="420624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0" b="1" i="0">
                <a:solidFill>
                  <a:srgbClr val="1D3E44"/>
                </a:solidFill>
                <a:latin typeface="Garamond"/>
              </a:rPr>
              <a:t>1 z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3246120"/>
            <a:ext cx="420624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1D3E44"/>
                </a:solidFill>
                <a:latin typeface="Garamond"/>
              </a:rPr>
              <a:t>pracowników na świecie</a:t>
            </a:r>
          </a:p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1D3E44"/>
                </a:solidFill>
                <a:latin typeface="Garamond"/>
              </a:rPr>
              <a:t>raportuje wypalenie zawodowe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5029200"/>
            <a:ext cx="4206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5A5E2C"/>
                </a:solidFill>
                <a:latin typeface="Garamond"/>
              </a:rPr>
              <a:t>McKinsey Health Institute, 2022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2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30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30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30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 thruBlk="0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000" b="1" i="0">
                <a:solidFill>
                  <a:srgbClr val="D4AD48"/>
                </a:solidFill>
                <a:latin typeface="Garamond"/>
              </a:rPr>
              <a:t>Problem, którego nie da się dłużej ignorować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10911535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F4E6C2"/>
                </a:solidFill>
                <a:latin typeface="Garamond"/>
              </a:rPr>
              <a:t>Kondycja psychiczna pracowników to dziś jeden z największych</a:t>
            </a:r>
          </a:p>
          <a:p>
            <a:pPr algn="l"/>
            <a:r>
              <a:rPr sz="1700" b="0" i="1">
                <a:solidFill>
                  <a:srgbClr val="F4E6C2"/>
                </a:solidFill>
                <a:latin typeface="Garamond"/>
              </a:rPr>
              <a:t>ukrytych kosztów organizacji. Liczby — niezależnie od źródła — są jednoznaczne.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926080"/>
            <a:ext cx="2604439" cy="2468880"/>
          </a:xfrm>
          <a:prstGeom prst="roundRect">
            <a:avLst>
              <a:gd name="adj" fmla="val 6000"/>
            </a:avLst>
          </a:prstGeom>
          <a:solidFill>
            <a:srgbClr val="244D55"/>
          </a:solidFill>
          <a:ln w="12700">
            <a:solidFill>
              <a:srgbClr val="D4A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08960"/>
            <a:ext cx="2330119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rmAutofit/>
          </a:bodyPr>
          <a:lstStyle/>
          <a:p>
            <a:pPr algn="ctr"/>
            <a:r>
              <a:rPr sz="5600" b="1" i="0">
                <a:solidFill>
                  <a:srgbClr val="D4AD48"/>
                </a:solidFill>
                <a:latin typeface="Garamond"/>
              </a:rPr>
              <a:t>44%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69080"/>
            <a:ext cx="2238679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0">
                <a:solidFill>
                  <a:srgbClr val="F4E6C2"/>
                </a:solidFill>
                <a:latin typeface="Garamond"/>
              </a:rPr>
              <a:t>pracowników na świecie odczuwa stres dzień w dzień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223867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B8A982"/>
                </a:solidFill>
                <a:latin typeface="Garamond"/>
              </a:rPr>
              <a:t>Gallup, State of the Global Workplace 2024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9111" y="2926080"/>
            <a:ext cx="2604439" cy="2468880"/>
          </a:xfrm>
          <a:prstGeom prst="roundRect">
            <a:avLst>
              <a:gd name="adj" fmla="val 6000"/>
            </a:avLst>
          </a:prstGeom>
          <a:solidFill>
            <a:srgbClr val="244D55"/>
          </a:solidFill>
          <a:ln w="12700">
            <a:solidFill>
              <a:srgbClr val="D4A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6271" y="3108960"/>
            <a:ext cx="2330119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rmAutofit/>
          </a:bodyPr>
          <a:lstStyle/>
          <a:p>
            <a:pPr algn="ctr"/>
            <a:r>
              <a:rPr sz="5600" b="1" i="0">
                <a:solidFill>
                  <a:srgbClr val="D4AD48"/>
                </a:solidFill>
                <a:latin typeface="Garamond"/>
              </a:rPr>
              <a:t>77%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1991" y="4069080"/>
            <a:ext cx="2238679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0">
                <a:solidFill>
                  <a:srgbClr val="F4E6C2"/>
                </a:solidFill>
                <a:latin typeface="Garamond"/>
              </a:rPr>
              <a:t>doświadczyło wypalenia zawodowego w obecnej pracy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1991" y="5029200"/>
            <a:ext cx="223867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B8A982"/>
                </a:solidFill>
                <a:latin typeface="Garamond"/>
              </a:rPr>
              <a:t>Deloitte Workplace Burnout Survey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2926080"/>
            <a:ext cx="2604439" cy="2468880"/>
          </a:xfrm>
          <a:prstGeom prst="roundRect">
            <a:avLst>
              <a:gd name="adj" fmla="val 6000"/>
            </a:avLst>
          </a:prstGeom>
          <a:solidFill>
            <a:srgbClr val="244D55"/>
          </a:solidFill>
          <a:ln w="12700">
            <a:solidFill>
              <a:srgbClr val="D4A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5303" y="3108960"/>
            <a:ext cx="2330119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rmAutofit/>
          </a:bodyPr>
          <a:lstStyle/>
          <a:p>
            <a:pPr algn="ctr"/>
            <a:r>
              <a:rPr sz="4000" b="1" i="0">
                <a:solidFill>
                  <a:srgbClr val="D4AD48"/>
                </a:solidFill>
                <a:latin typeface="Garamond"/>
              </a:rPr>
              <a:t>$1 bln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1023" y="4069080"/>
            <a:ext cx="2238679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0">
                <a:solidFill>
                  <a:srgbClr val="F4E6C2"/>
                </a:solidFill>
                <a:latin typeface="Garamond"/>
              </a:rPr>
              <a:t>rocznych globalnych strat produktywności wskutek</a:t>
            </a:r>
          </a:p>
          <a:p>
            <a:pPr algn="ctr"/>
            <a:r>
              <a:rPr sz="1300" b="0" i="0">
                <a:solidFill>
                  <a:srgbClr val="F4E6C2"/>
                </a:solidFill>
                <a:latin typeface="Garamond"/>
              </a:rPr>
              <a:t>depresji i lęku w pracy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1023" y="5029200"/>
            <a:ext cx="223867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B8A982"/>
                </a:solidFill>
                <a:latin typeface="Garamond"/>
              </a:rPr>
              <a:t>WHO, 2017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47175" y="2926080"/>
            <a:ext cx="2604439" cy="2468880"/>
          </a:xfrm>
          <a:prstGeom prst="roundRect">
            <a:avLst>
              <a:gd name="adj" fmla="val 6000"/>
            </a:avLst>
          </a:prstGeom>
          <a:solidFill>
            <a:srgbClr val="244D55"/>
          </a:solidFill>
          <a:ln w="12700">
            <a:solidFill>
              <a:srgbClr val="D4A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84335" y="3108960"/>
            <a:ext cx="2330119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rmAutofit/>
          </a:bodyPr>
          <a:lstStyle/>
          <a:p>
            <a:pPr algn="ctr"/>
            <a:r>
              <a:rPr sz="4000" b="1" i="0">
                <a:solidFill>
                  <a:srgbClr val="D4AD48"/>
                </a:solidFill>
                <a:latin typeface="Garamond"/>
              </a:rPr>
              <a:t>od 2019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0055" y="4069080"/>
            <a:ext cx="2238679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0">
                <a:solidFill>
                  <a:srgbClr val="F4E6C2"/>
                </a:solidFill>
                <a:latin typeface="Garamond"/>
              </a:rPr>
              <a:t>wypalenie zawodowe sklasyfikowane oficjalnie</a:t>
            </a:r>
          </a:p>
          <a:p>
            <a:pPr algn="ctr"/>
            <a:r>
              <a:rPr sz="1300" b="0" i="0">
                <a:solidFill>
                  <a:srgbClr val="F4E6C2"/>
                </a:solidFill>
                <a:latin typeface="Garamond"/>
              </a:rPr>
              <a:t>w ICD-11 jako syndrom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0055" y="5029200"/>
            <a:ext cx="223867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B8A982"/>
                </a:solidFill>
                <a:latin typeface="Garamond"/>
              </a:rPr>
              <a:t>WHO, ICD-11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577840"/>
            <a:ext cx="1091153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 i="1">
                <a:solidFill>
                  <a:srgbClr val="E7C46A"/>
                </a:solidFill>
                <a:latin typeface="Garamond"/>
              </a:rPr>
              <a:t>Nieobecność procesu pomiaru = nieobecność dowodu, że problem istnieje. Dopóki HR go nie widzi, finanse go nie finansują.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7C46A"/>
                </a:solidFill>
                <a:latin typeface="Garamond"/>
              </a:rPr>
              <a:t>02 / 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22815" y="64008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D4AD48"/>
                </a:solidFill>
                <a:latin typeface="Garamond"/>
              </a:rPr>
              <a:t>MOODFLOW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2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25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25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5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25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2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 thruBlk="0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E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200" b="1" i="0">
                <a:solidFill>
                  <a:srgbClr val="D4AD48"/>
                </a:solidFill>
                <a:latin typeface="Garamond"/>
              </a:rPr>
              <a:t>Co kosztuje brak działania?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1091153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1">
                <a:solidFill>
                  <a:srgbClr val="F4E6C2"/>
                </a:solidFill>
                <a:latin typeface="Garamond"/>
              </a:rPr>
              <a:t>Trzy obszary, w których kondycja psychiczna zespołu uderza w P&amp;L.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468880"/>
            <a:ext cx="3454298" cy="3291840"/>
          </a:xfrm>
          <a:prstGeom prst="roundRect">
            <a:avLst>
              <a:gd name="adj" fmla="val 6000"/>
            </a:avLst>
          </a:prstGeom>
          <a:solidFill>
            <a:srgbClr val="244D55"/>
          </a:solidFill>
          <a:ln w="12700">
            <a:solidFill>
              <a:srgbClr val="D4A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3088538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E7C46A"/>
                </a:solidFill>
                <a:latin typeface="Garamond"/>
              </a:rPr>
              <a:t>ROTACJA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3088538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rmAutofit/>
          </a:bodyPr>
          <a:lstStyle/>
          <a:p>
            <a:pPr algn="ctr"/>
            <a:r>
              <a:rPr sz="5800" b="1" i="0">
                <a:solidFill>
                  <a:srgbClr val="D4AD48"/>
                </a:solidFill>
                <a:latin typeface="Garamond"/>
              </a:rPr>
              <a:t>50–200%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43399"/>
            <a:ext cx="2905658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F4E6C2"/>
                </a:solidFill>
                <a:latin typeface="Garamond"/>
              </a:rPr>
              <a:t>rocznego wynagrodzenia kosztuje zastąpienie pracownika.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57800"/>
            <a:ext cx="2905658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B8A982"/>
                </a:solidFill>
                <a:latin typeface="Garamond"/>
              </a:rPr>
              <a:t>SHRM Cost of Turnover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8698" y="2468880"/>
            <a:ext cx="3454298" cy="3291840"/>
          </a:xfrm>
          <a:prstGeom prst="roundRect">
            <a:avLst>
              <a:gd name="adj" fmla="val 6000"/>
            </a:avLst>
          </a:prstGeom>
          <a:solidFill>
            <a:srgbClr val="244D55"/>
          </a:solidFill>
          <a:ln w="12700">
            <a:solidFill>
              <a:srgbClr val="D4A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1578" y="2743200"/>
            <a:ext cx="3088538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E7C46A"/>
                </a:solidFill>
                <a:latin typeface="Garamond"/>
              </a:rPr>
              <a:t>ABSENCJA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1578" y="3246120"/>
            <a:ext cx="3088538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rmAutofit/>
          </a:bodyPr>
          <a:lstStyle/>
          <a:p>
            <a:pPr algn="ctr"/>
            <a:r>
              <a:rPr sz="5800" b="1" i="0">
                <a:solidFill>
                  <a:srgbClr val="D4AD48"/>
                </a:solidFill>
                <a:latin typeface="Garamond"/>
              </a:rPr>
              <a:t>wzrost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3018" y="4343399"/>
            <a:ext cx="2905658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F4E6C2"/>
                </a:solidFill>
                <a:latin typeface="Garamond"/>
              </a:rPr>
              <a:t>zwolnień psychiatrycznych w ZUS w ostatnich latach — według danych ZUS i opracowań GUS.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3018" y="5257800"/>
            <a:ext cx="2905658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B8A982"/>
                </a:solidFill>
                <a:latin typeface="Garamond"/>
              </a:rPr>
              <a:t>ZUS / GUS, dane bieżące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7316" y="2468880"/>
            <a:ext cx="3454298" cy="3291840"/>
          </a:xfrm>
          <a:prstGeom prst="roundRect">
            <a:avLst>
              <a:gd name="adj" fmla="val 6000"/>
            </a:avLst>
          </a:prstGeom>
          <a:solidFill>
            <a:srgbClr val="244D55"/>
          </a:solidFill>
          <a:ln w="12700">
            <a:solidFill>
              <a:srgbClr val="D4A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0196" y="2743200"/>
            <a:ext cx="3088538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E7C46A"/>
                </a:solidFill>
                <a:latin typeface="Garamond"/>
              </a:rPr>
              <a:t>PRODUKTYWNOŚĆ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0196" y="3246120"/>
            <a:ext cx="3088538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rmAutofit/>
          </a:bodyPr>
          <a:lstStyle/>
          <a:p>
            <a:pPr algn="ctr"/>
            <a:r>
              <a:rPr sz="5800" b="1" i="0">
                <a:solidFill>
                  <a:srgbClr val="D4AD48"/>
                </a:solidFill>
                <a:latin typeface="Garamond"/>
              </a:rPr>
              <a:t>≥ 3×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1636" y="4343399"/>
            <a:ext cx="2905658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F4E6C2"/>
                </a:solidFill>
                <a:latin typeface="Garamond"/>
              </a:rPr>
              <a:t>niższe zaangażowanie u pracowników z objawami wypalenia w porównaniu do reszty zespołu.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1636" y="5257800"/>
            <a:ext cx="2905658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B8A982"/>
                </a:solidFill>
                <a:latin typeface="Garamond"/>
              </a:rPr>
              <a:t>Gallup Q12 / WBI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E7C46A"/>
                </a:solidFill>
                <a:latin typeface="Garamond"/>
              </a:rPr>
              <a:t>Każdy 1% obniżonej rotacji w 100-osobowej firmie to oszczędność rzędu średniej rocznej pensji.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7C46A"/>
                </a:solidFill>
                <a:latin typeface="Garamond"/>
              </a:rPr>
              <a:t>03 / 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2815" y="64008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D4AD48"/>
                </a:solidFill>
                <a:latin typeface="Garamond"/>
              </a:rPr>
              <a:t>MOODFLOW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2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30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30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30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0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 thruBlk="0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E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46320" cy="6858000"/>
          </a:xfrm>
          <a:prstGeom prst="rect">
            <a:avLst/>
          </a:prstGeom>
          <a:solidFill>
            <a:srgbClr val="F4E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2468880"/>
            <a:ext cx="457200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rmAutofit/>
          </a:bodyPr>
          <a:lstStyle/>
          <a:p>
            <a:pPr algn="ctr"/>
            <a:r>
              <a:rPr sz="6000" b="1" i="0">
                <a:solidFill>
                  <a:srgbClr val="1D3E44"/>
                </a:solidFill>
                <a:latin typeface="Garamond"/>
              </a:rPr>
              <a:t>MoodFlow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931920"/>
            <a:ext cx="438912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0" i="0">
                <a:solidFill>
                  <a:srgbClr val="5A5E2C"/>
                </a:solidFill>
                <a:latin typeface="Garamond"/>
              </a:rPr>
              <a:t>Zdrowy zespół.</a:t>
            </a:r>
          </a:p>
          <a:p>
            <a:pPr algn="ctr">
              <a:lnSpc>
                <a:spcPct val="140000"/>
              </a:lnSpc>
            </a:pPr>
            <a:r>
              <a:rPr sz="1800" b="0" i="0">
                <a:solidFill>
                  <a:srgbClr val="5A5E2C"/>
                </a:solidFill>
                <a:latin typeface="Garamond"/>
              </a:rPr>
              <a:t>Mierzalny postęp.</a:t>
            </a:r>
          </a:p>
          <a:p>
            <a:pPr algn="ctr">
              <a:lnSpc>
                <a:spcPct val="140000"/>
              </a:lnSpc>
            </a:pPr>
            <a:r>
              <a:rPr sz="1800" b="0" i="0">
                <a:solidFill>
                  <a:srgbClr val="5A5E2C"/>
                </a:solidFill>
                <a:latin typeface="Garamond"/>
              </a:rPr>
              <a:t>Pełna anonimowość.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640080"/>
            <a:ext cx="65836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200" b="1" i="0">
                <a:solidFill>
                  <a:srgbClr val="D4AD48"/>
                </a:solidFill>
                <a:latin typeface="Garamond"/>
              </a:rPr>
              <a:t>Co dostajesz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828800"/>
            <a:ext cx="6583680" cy="4572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600" b="0">
                <a:solidFill>
                  <a:srgbClr val="F4E6C2"/>
                </a:solidFill>
                <a:latin typeface="Garamond"/>
              </a:rPr>
              <a:t>Webowa aplikacja multi-tenant — każda firma w izolowanej przestrzeni danych</a:t>
            </a:r>
          </a:p>
          <a:p>
            <a:pPr algn="l">
              <a:lnSpc>
                <a:spcPct val="145000"/>
              </a:lnSpc>
            </a:pPr>
            <a:r>
              <a:rPr sz="16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600" b="0">
                <a:solidFill>
                  <a:srgbClr val="F4E6C2"/>
                </a:solidFill>
                <a:latin typeface="Garamond"/>
              </a:rPr>
              <a:t>5 zwalidowanych testów psychologicznych: PHQ-9, GAD-7, PSS-10, WHO-5, Mood Meter</a:t>
            </a:r>
          </a:p>
          <a:p>
            <a:pPr algn="l">
              <a:lnSpc>
                <a:spcPct val="145000"/>
              </a:lnSpc>
            </a:pPr>
            <a:r>
              <a:rPr sz="16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600" b="0">
                <a:solidFill>
                  <a:srgbClr val="F4E6C2"/>
                </a:solidFill>
                <a:latin typeface="Garamond"/>
              </a:rPr>
              <a:t>Panel HR z anonimowymi raportami: trendy, alerty, eksport PDF i CSV</a:t>
            </a:r>
          </a:p>
          <a:p>
            <a:pPr algn="l">
              <a:lnSpc>
                <a:spcPct val="145000"/>
              </a:lnSpc>
            </a:pPr>
            <a:r>
              <a:rPr sz="16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600" b="0">
                <a:solidFill>
                  <a:srgbClr val="F4E6C2"/>
                </a:solidFill>
                <a:latin typeface="Garamond"/>
              </a:rPr>
              <a:t>Automatyczne wykrywanie sygnałów ryzyka w odpowiedziach pracowników</a:t>
            </a:r>
          </a:p>
          <a:p>
            <a:pPr algn="l">
              <a:lnSpc>
                <a:spcPct val="145000"/>
              </a:lnSpc>
            </a:pPr>
            <a:r>
              <a:rPr sz="16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600" b="0">
                <a:solidFill>
                  <a:srgbClr val="F4E6C2"/>
                </a:solidFill>
                <a:latin typeface="Garamond"/>
              </a:rPr>
              <a:t>Pełna zgodność z RODO i k-anonymity (k ≥ 5) we wszystkich raportach HR</a:t>
            </a:r>
          </a:p>
          <a:p>
            <a:pPr algn="l">
              <a:lnSpc>
                <a:spcPct val="145000"/>
              </a:lnSpc>
            </a:pPr>
            <a:r>
              <a:rPr sz="16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600" b="0">
                <a:solidFill>
                  <a:srgbClr val="F4E6C2"/>
                </a:solidFill>
                <a:latin typeface="Garamond"/>
              </a:rPr>
              <a:t>PWA — działa na każdym telefonie bez instalacji ze sklepu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7C46A"/>
                </a:solidFill>
                <a:latin typeface="Garamond"/>
              </a:rPr>
              <a:t>04 /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4008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D4AD48"/>
                </a:solidFill>
                <a:latin typeface="Garamond"/>
              </a:rPr>
              <a:t>MOODFLOW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2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30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30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30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D4AD48"/>
                </a:solidFill>
                <a:latin typeface="Garamond"/>
              </a:rPr>
              <a:t>Jak to działa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1091153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1">
                <a:solidFill>
                  <a:srgbClr val="F4E6C2"/>
                </a:solidFill>
                <a:latin typeface="Garamond"/>
              </a:rPr>
              <a:t>Trzy proste kroki. Wdrożenie w kilka dni — nie miesięcy.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468880"/>
            <a:ext cx="3484778" cy="3383280"/>
          </a:xfrm>
          <a:prstGeom prst="roundRect">
            <a:avLst>
              <a:gd name="adj" fmla="val 6000"/>
            </a:avLst>
          </a:prstGeom>
          <a:solidFill>
            <a:srgbClr val="1D3E44"/>
          </a:solidFill>
          <a:ln w="17780">
            <a:solidFill>
              <a:srgbClr val="D4A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697480"/>
            <a:ext cx="3484778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rmAutofit/>
          </a:bodyPr>
          <a:lstStyle/>
          <a:p>
            <a:pPr algn="ctr"/>
            <a:r>
              <a:rPr sz="10000" b="1" i="0">
                <a:solidFill>
                  <a:srgbClr val="D4AD48"/>
                </a:solidFill>
                <a:latin typeface="Garamon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3119018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E7C46A"/>
                </a:solidFill>
                <a:latin typeface="Garamond"/>
              </a:rPr>
              <a:t>Firma rejestruje konto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00600"/>
            <a:ext cx="2936138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 i="0">
                <a:solidFill>
                  <a:srgbClr val="F4E6C2"/>
                </a:solidFill>
                <a:latin typeface="Garamond"/>
              </a:rPr>
              <a:t>Administrator firmy otrzymuje unikalny kod (MOOD-XXXXXXXX) i zaprasza pracowników. Konto firmy podlega akceptacji administratora platformy.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3458" y="2468880"/>
            <a:ext cx="3484778" cy="3383280"/>
          </a:xfrm>
          <a:prstGeom prst="roundRect">
            <a:avLst>
              <a:gd name="adj" fmla="val 6000"/>
            </a:avLst>
          </a:prstGeom>
          <a:solidFill>
            <a:srgbClr val="1D3E44"/>
          </a:solidFill>
          <a:ln w="17780">
            <a:solidFill>
              <a:srgbClr val="D4A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53458" y="2697480"/>
            <a:ext cx="3484778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rmAutofit/>
          </a:bodyPr>
          <a:lstStyle/>
          <a:p>
            <a:pPr algn="ctr"/>
            <a:r>
              <a:rPr sz="10000" b="1" i="0">
                <a:solidFill>
                  <a:srgbClr val="D4AD48"/>
                </a:solidFill>
                <a:latin typeface="Garamon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6338" y="4160520"/>
            <a:ext cx="3119018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E7C46A"/>
                </a:solidFill>
                <a:latin typeface="Garamond"/>
              </a:rPr>
              <a:t>Pracownik wypełnia testy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7778" y="4800600"/>
            <a:ext cx="2936138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 i="0">
                <a:solidFill>
                  <a:srgbClr val="F4E6C2"/>
                </a:solidFill>
                <a:latin typeface="Garamond"/>
              </a:rPr>
              <a:t>PHQ-9, GAD-7, PSS-10, WHO-5 i codzienny Mood Check — każdy zajmuje 1–3 minuty. Aplikacja PWA, działa na telefonie i komputerze.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6836" y="2468880"/>
            <a:ext cx="3484778" cy="3383280"/>
          </a:xfrm>
          <a:prstGeom prst="roundRect">
            <a:avLst>
              <a:gd name="adj" fmla="val 6000"/>
            </a:avLst>
          </a:prstGeom>
          <a:solidFill>
            <a:srgbClr val="1D3E44"/>
          </a:solidFill>
          <a:ln w="17780">
            <a:solidFill>
              <a:srgbClr val="D4A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6836" y="2697480"/>
            <a:ext cx="3484778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rmAutofit/>
          </a:bodyPr>
          <a:lstStyle/>
          <a:p>
            <a:pPr algn="ctr"/>
            <a:r>
              <a:rPr sz="10000" b="1" i="0">
                <a:solidFill>
                  <a:srgbClr val="D4AD48"/>
                </a:solidFill>
                <a:latin typeface="Garamon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9716" y="4160520"/>
            <a:ext cx="3119018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E7C46A"/>
                </a:solidFill>
                <a:latin typeface="Garamond"/>
              </a:rPr>
              <a:t>HR widzi anonimowe trendy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1156" y="4800600"/>
            <a:ext cx="2936138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 i="0">
                <a:solidFill>
                  <a:srgbClr val="F4E6C2"/>
                </a:solidFill>
                <a:latin typeface="Garamond"/>
              </a:rPr>
              <a:t>Wykresy, alerty i porównania międzydziałowe — bez identyfikacji konkretnych osób. K-anonymity wymuszone w API.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008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7C46A"/>
                </a:solidFill>
                <a:latin typeface="Garamond"/>
              </a:rPr>
              <a:t>05 / 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2815" y="64008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D4AD48"/>
                </a:solidFill>
                <a:latin typeface="Garamond"/>
              </a:rPr>
              <a:t>MOODFLOW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2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35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35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35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5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 thruBlk="0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E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68580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000" b="1" i="0">
                <a:solidFill>
                  <a:srgbClr val="D4AD48"/>
                </a:solidFill>
                <a:latin typeface="Garamond"/>
              </a:rPr>
              <a:t>Onboarding firmy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68580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1">
                <a:solidFill>
                  <a:srgbClr val="F4E6C2"/>
                </a:solidFill>
                <a:latin typeface="Garamond"/>
              </a:rPr>
              <a:t>Konto firmowe powstaje w 60 sekund.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6583680" cy="3200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600" b="0">
                <a:solidFill>
                  <a:srgbClr val="F4E6C2"/>
                </a:solidFill>
                <a:latin typeface="Garamond"/>
              </a:rPr>
              <a:t>Rejestracja przez NIP — automatyczna weryfikacja danych firmy</a:t>
            </a:r>
          </a:p>
          <a:p>
            <a:pPr algn="l">
              <a:lnSpc>
                <a:spcPct val="145000"/>
              </a:lnSpc>
            </a:pPr>
            <a:r>
              <a:rPr sz="16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600" b="0">
                <a:solidFill>
                  <a:srgbClr val="F4E6C2"/>
                </a:solidFill>
                <a:latin typeface="Garamond"/>
              </a:rPr>
              <a:t>Konto podlega akceptacji administratora platformy</a:t>
            </a:r>
          </a:p>
          <a:p>
            <a:pPr algn="l">
              <a:lnSpc>
                <a:spcPct val="145000"/>
              </a:lnSpc>
            </a:pPr>
            <a:r>
              <a:rPr sz="16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600" b="0">
                <a:solidFill>
                  <a:srgbClr val="F4E6C2"/>
                </a:solidFill>
                <a:latin typeface="Garamond"/>
              </a:rPr>
              <a:t>Po akceptacji administrator firmowy otrzymuje kod organizacji</a:t>
            </a:r>
          </a:p>
          <a:p>
            <a:pPr algn="l">
              <a:lnSpc>
                <a:spcPct val="145000"/>
              </a:lnSpc>
            </a:pPr>
            <a:r>
              <a:rPr sz="16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600" b="0">
                <a:solidFill>
                  <a:srgbClr val="F4E6C2"/>
                </a:solidFill>
                <a:latin typeface="Garamond"/>
              </a:rPr>
              <a:t>Kod służy do bezpiecznego dołączania pracowników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49240"/>
            <a:ext cx="68580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D4AD48"/>
                </a:solidFill>
                <a:latin typeface="Garamond"/>
              </a:rPr>
              <a:t>→ Zero plików Excel. Zero ręcznego importu kont.</a:t>
            </a:r>
          </a:p>
        </p:txBody>
      </p:sp>
      <p:pic>
        <p:nvPicPr>
          <p:cNvPr id="6" name="Picture 5" descr="02-rejestracja-fir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872576"/>
            <a:ext cx="4206240" cy="51128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4008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7C46A"/>
                </a:solidFill>
                <a:latin typeface="Garamond"/>
              </a:rPr>
              <a:t>06 /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4008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D4AD48"/>
                </a:solidFill>
                <a:latin typeface="Garamond"/>
              </a:rPr>
              <a:t>MOODFLOW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2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30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30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30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0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E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3-dolacz-do-fir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31013"/>
            <a:ext cx="5074920" cy="539597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52160" y="502920"/>
            <a:ext cx="59436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D4AD48"/>
                </a:solidFill>
                <a:latin typeface="Garamond"/>
              </a:rPr>
              <a:t>Pracownik dołącza w 30 sekund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1828800"/>
            <a:ext cx="5943600" cy="3657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600" b="0">
                <a:solidFill>
                  <a:srgbClr val="F4E6C2"/>
                </a:solidFill>
                <a:latin typeface="Garamond"/>
              </a:rPr>
              <a:t>Kod firmowy w formacie MOOD-XXXXXXXX</a:t>
            </a:r>
          </a:p>
          <a:p>
            <a:pPr algn="l">
              <a:lnSpc>
                <a:spcPct val="145000"/>
              </a:lnSpc>
            </a:pPr>
            <a:r>
              <a:rPr sz="16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600" b="0">
                <a:solidFill>
                  <a:srgbClr val="F4E6C2"/>
                </a:solidFill>
                <a:latin typeface="Garamond"/>
              </a:rPr>
              <a:t>Walidacja siły hasła już po stronie klienta</a:t>
            </a:r>
          </a:p>
          <a:p>
            <a:pPr algn="l">
              <a:lnSpc>
                <a:spcPct val="145000"/>
              </a:lnSpc>
            </a:pPr>
            <a:r>
              <a:rPr sz="16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600" b="0">
                <a:solidFill>
                  <a:srgbClr val="F4E6C2"/>
                </a:solidFill>
                <a:latin typeface="Garamond"/>
              </a:rPr>
              <a:t>Brak udostępniania danych osobowych poza domeną firmy</a:t>
            </a:r>
          </a:p>
          <a:p>
            <a:pPr algn="l">
              <a:lnSpc>
                <a:spcPct val="145000"/>
              </a:lnSpc>
            </a:pPr>
            <a:r>
              <a:rPr sz="16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600" b="0">
                <a:solidFill>
                  <a:srgbClr val="F4E6C2"/>
                </a:solidFill>
                <a:latin typeface="Garamond"/>
              </a:rPr>
              <a:t>PWA — działa na telefonie bez instalacji ze sklepu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5212080"/>
            <a:ext cx="5943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1">
                <a:solidFill>
                  <a:srgbClr val="D4AD48"/>
                </a:solidFill>
                <a:latin typeface="Garamond"/>
              </a:rPr>
              <a:t>Twoje dane są bezpieczne i szyfrowane.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7C46A"/>
                </a:solidFill>
                <a:latin typeface="Garamond"/>
              </a:rPr>
              <a:t>07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22815" y="64008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D4AD48"/>
                </a:solidFill>
                <a:latin typeface="Garamond"/>
              </a:rPr>
              <a:t>MOODFLOW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2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30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30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30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push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6400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D4AD48"/>
                </a:solidFill>
                <a:latin typeface="Garamond"/>
              </a:rPr>
              <a:t>Pracownik widzi swoje wyniki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64008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F4E6C2"/>
                </a:solidFill>
                <a:latin typeface="Garamond"/>
              </a:rPr>
              <a:t>Każdy test kończy się czytelną interpretacją.</a:t>
            </a:r>
          </a:p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F4E6C2"/>
                </a:solidFill>
                <a:latin typeface="Garamond"/>
              </a:rPr>
              <a:t>Wynik nie jest diagnozą — to sygnał do refleksji i ewentualnej rozmowy ze specjalistą.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6400800" cy="2560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500" b="0">
                <a:solidFill>
                  <a:srgbClr val="F4E6C2"/>
                </a:solidFill>
                <a:latin typeface="Garamond"/>
              </a:rPr>
              <a:t>Skala wyniku przeliczana wyłącznie po stronie backendu</a:t>
            </a:r>
          </a:p>
          <a:p>
            <a:pPr algn="l">
              <a:lnSpc>
                <a:spcPct val="140000"/>
              </a:lnSpc>
            </a:pPr>
            <a:r>
              <a:rPr sz="15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500" b="0">
                <a:solidFill>
                  <a:srgbClr val="F4E6C2"/>
                </a:solidFill>
                <a:latin typeface="Garamond"/>
              </a:rPr>
              <a:t>Klasyfikacja: minimalny / łagodny / umiarkowany / ciężki</a:t>
            </a:r>
          </a:p>
          <a:p>
            <a:pPr algn="l">
              <a:lnSpc>
                <a:spcPct val="140000"/>
              </a:lnSpc>
            </a:pPr>
            <a:r>
              <a:rPr sz="15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500" b="0">
                <a:solidFill>
                  <a:srgbClr val="F4E6C2"/>
                </a:solidFill>
                <a:latin typeface="Garamond"/>
              </a:rPr>
              <a:t>Historia wszystkich poprzednich wyników w jednym miejscu</a:t>
            </a:r>
          </a:p>
        </p:txBody>
      </p:sp>
      <p:pic>
        <p:nvPicPr>
          <p:cNvPr id="5" name="Picture 4" descr="04-wynik-phq9-umiarkowa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110482"/>
            <a:ext cx="4434840" cy="4637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008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7C46A"/>
                </a:solidFill>
                <a:latin typeface="Garamond"/>
              </a:rPr>
              <a:t>08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22815" y="64008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D4AD48"/>
                </a:solidFill>
                <a:latin typeface="Garamond"/>
              </a:rPr>
              <a:t>MOODFLOW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2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30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30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30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 thruBlk="0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E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D4AD48"/>
                </a:solidFill>
                <a:latin typeface="Garamond"/>
              </a:rPr>
              <a:t>Tryb wsparcia: gdy pracownik nie daje rady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73152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F4E6C2"/>
                </a:solidFill>
                <a:latin typeface="Garamond"/>
              </a:rPr>
              <a:t>Gdy odpowiedzi sugerują myśli samobójcze (PHQ-9, pyt. 9 &gt; 0)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F4E6C2"/>
                </a:solidFill>
                <a:latin typeface="Garamond"/>
              </a:rPr>
              <a:t>lub wynik w przedziale ciężkim — system automatycznie: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108960"/>
            <a:ext cx="7315200" cy="2743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400" b="0">
                <a:solidFill>
                  <a:srgbClr val="F4E6C2"/>
                </a:solidFill>
                <a:latin typeface="Garamond"/>
              </a:rPr>
              <a:t>wyświetla rozbudowany komunikat zamiast suchego scoringu,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400" b="0">
                <a:solidFill>
                  <a:srgbClr val="F4E6C2"/>
                </a:solidFill>
                <a:latin typeface="Garamond"/>
              </a:rPr>
              <a:t>pokazuje numery telefonów zaufania (116 123, 800 70 22 22, 116 111),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400" b="0">
                <a:solidFill>
                  <a:srgbClr val="F4E6C2"/>
                </a:solidFill>
                <a:latin typeface="Garamond"/>
              </a:rPr>
              <a:t>zachęca do kontaktu ze specjalistą — bez stygmatyzacji,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400" b="0">
                <a:solidFill>
                  <a:srgbClr val="F4E6C2"/>
                </a:solidFill>
                <a:latin typeface="Garamond"/>
              </a:rPr>
              <a:t>nigdy nie raportuje pojedynczego przypadku do HR (anonimowość).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73152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D4AD48"/>
                </a:solidFill>
                <a:latin typeface="Garamond"/>
              </a:rPr>
              <a:t>To nie funkcja marketingowa. To kwestia odpowiedzialności.</a:t>
            </a:r>
          </a:p>
        </p:txBody>
      </p:sp>
      <p:pic>
        <p:nvPicPr>
          <p:cNvPr id="6" name="Picture 5" descr="05-wynik-phq9-ciezk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715835"/>
            <a:ext cx="3657600" cy="54263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4008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7C46A"/>
                </a:solidFill>
                <a:latin typeface="Garamond"/>
              </a:rPr>
              <a:t>09 /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64008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D4AD48"/>
                </a:solidFill>
                <a:latin typeface="Garamond"/>
              </a:rPr>
              <a:t>MOODFLOW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2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30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30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30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0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 thruBlk="0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D4AD48"/>
                </a:solidFill>
                <a:latin typeface="Garamond"/>
              </a:rPr>
              <a:t>Walidowane narzędzia psychologiczne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1091153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F4E6C2"/>
                </a:solidFill>
                <a:latin typeface="Garamond"/>
              </a:rPr>
              <a:t>Testy z domeny publicznej — używane w psychiatrii klinicznej i medycynie pracy.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240280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1D3E44"/>
          </a:solidFill>
          <a:ln w="8890">
            <a:solidFill>
              <a:srgbClr val="D4A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304288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D4AD48"/>
                </a:solidFill>
                <a:latin typeface="Garamond"/>
              </a:rPr>
              <a:t>PHQ-9 — Patient Health Questionnaire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24328"/>
            <a:ext cx="1045433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4E6C2"/>
                </a:solidFill>
                <a:latin typeface="Garamond"/>
              </a:rPr>
              <a:t>9 pytań · ocena nasilenia objawów depresyjnych · standard kliniczny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26664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1D3E44"/>
          </a:solidFill>
          <a:ln w="8890">
            <a:solidFill>
              <a:srgbClr val="D4A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090672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D4AD48"/>
                </a:solidFill>
                <a:latin typeface="Garamond"/>
              </a:rPr>
              <a:t>GAD-7 — Generalized Anxiety Disorder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10712"/>
            <a:ext cx="1045433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4E6C2"/>
                </a:solidFill>
                <a:latin typeface="Garamond"/>
              </a:rPr>
              <a:t>7 pytań · pomiar lęku uogólnionego · czułość 89%, swoistość 82%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13048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1D3E44"/>
          </a:solidFill>
          <a:ln w="8890">
            <a:solidFill>
              <a:srgbClr val="D4A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877056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D4AD48"/>
                </a:solidFill>
                <a:latin typeface="Garamond"/>
              </a:rPr>
              <a:t>PSS-10 — Perceived Stress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197096"/>
            <a:ext cx="1045433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4E6C2"/>
                </a:solidFill>
                <a:latin typeface="Garamond"/>
              </a:rPr>
              <a:t>10 pytań · subiektywne odczuwanie stresu w ostatnim miesiącu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99432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1D3E44"/>
          </a:solidFill>
          <a:ln w="8890">
            <a:solidFill>
              <a:srgbClr val="D4A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66344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D4AD48"/>
                </a:solidFill>
                <a:latin typeface="Garamond"/>
              </a:rPr>
              <a:t>WHO-5 Well-Being Index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983480"/>
            <a:ext cx="1045433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4E6C2"/>
                </a:solidFill>
                <a:latin typeface="Garamond"/>
              </a:rPr>
              <a:t>5 pozycji · ogólny dobrostan · rekomendacja Światowej Organizacji Zdrowia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85816"/>
            <a:ext cx="10911535" cy="713232"/>
          </a:xfrm>
          <a:prstGeom prst="roundRect">
            <a:avLst>
              <a:gd name="adj" fmla="val 6000"/>
            </a:avLst>
          </a:prstGeom>
          <a:solidFill>
            <a:srgbClr val="1D3E44"/>
          </a:solidFill>
          <a:ln w="8890">
            <a:solidFill>
              <a:srgbClr val="D4A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449824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D4AD48"/>
                </a:solidFill>
                <a:latin typeface="Garamond"/>
              </a:rPr>
              <a:t>Mood Meter / SAM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769864"/>
            <a:ext cx="1045433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4E6C2"/>
                </a:solidFill>
                <a:latin typeface="Garamond"/>
              </a:rPr>
              <a:t>Codzienny pomiar nastroju (emoji + ocena) · zasila wykres trendu w panelu 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008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7C46A"/>
                </a:solidFill>
                <a:latin typeface="Garamond"/>
              </a:rPr>
              <a:t>10 / 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2815" y="64008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D4AD48"/>
                </a:solidFill>
                <a:latin typeface="Garamond"/>
              </a:rPr>
              <a:t>MOODFLOW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2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8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8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18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18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18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 thruBlk="0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E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D4AD48"/>
                </a:solidFill>
                <a:latin typeface="Garamond"/>
              </a:rPr>
              <a:t>Panel HR — dane, których nie ma w arkuszu Excel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828800"/>
            <a:ext cx="54864" cy="1371600"/>
          </a:xfrm>
          <a:prstGeom prst="rect">
            <a:avLst/>
          </a:prstGeom>
          <a:solidFill>
            <a:srgbClr val="D4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74520"/>
            <a:ext cx="5257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D4AD48"/>
                </a:solidFill>
                <a:latin typeface="Garamond"/>
              </a:rPr>
              <a:t>Wskaźnik dobrostanu zespołu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5257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F4E6C2"/>
                </a:solidFill>
                <a:latin typeface="Garamond"/>
              </a:rPr>
              <a:t>Agregat WHO-5 z całej organizacji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828800"/>
            <a:ext cx="54864" cy="1371600"/>
          </a:xfrm>
          <a:prstGeom prst="rect">
            <a:avLst/>
          </a:prstGeom>
          <a:solidFill>
            <a:srgbClr val="D4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874520"/>
            <a:ext cx="5257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D4AD48"/>
                </a:solidFill>
                <a:latin typeface="Garamond"/>
              </a:rPr>
              <a:t>Trendy w czasie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2377440"/>
            <a:ext cx="5257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F4E6C2"/>
                </a:solidFill>
                <a:latin typeface="Garamond"/>
              </a:rPr>
              <a:t>Stres, lęk, depresja w ujęciu tygodniowym i miesięcznym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429000"/>
            <a:ext cx="54864" cy="1371600"/>
          </a:xfrm>
          <a:prstGeom prst="rect">
            <a:avLst/>
          </a:prstGeom>
          <a:solidFill>
            <a:srgbClr val="D4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5257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D4AD48"/>
                </a:solidFill>
                <a:latin typeface="Garamond"/>
              </a:rPr>
              <a:t>Filtrowanie po działach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77640"/>
            <a:ext cx="5257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F4E6C2"/>
                </a:solidFill>
                <a:latin typeface="Garamond"/>
              </a:rPr>
              <a:t>Tylko grupy ≥ 5 osób (k-anonymity); małe zespoły są ukrywane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3429000"/>
            <a:ext cx="54864" cy="1371600"/>
          </a:xfrm>
          <a:prstGeom prst="rect">
            <a:avLst/>
          </a:prstGeom>
          <a:solidFill>
            <a:srgbClr val="D4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3474720"/>
            <a:ext cx="5257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D4AD48"/>
                </a:solidFill>
                <a:latin typeface="Garamond"/>
              </a:rPr>
              <a:t>Alerty automatyczne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977640"/>
            <a:ext cx="5257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F4E6C2"/>
                </a:solidFill>
                <a:latin typeface="Garamond"/>
              </a:rPr>
              <a:t>Powiadomienie, gdy średnia w dziale przekroczy próg ostrzegawczy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29200"/>
            <a:ext cx="54864" cy="1371600"/>
          </a:xfrm>
          <a:prstGeom prst="rect">
            <a:avLst/>
          </a:prstGeom>
          <a:solidFill>
            <a:srgbClr val="D4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074920"/>
            <a:ext cx="5257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D4AD48"/>
                </a:solidFill>
                <a:latin typeface="Garamond"/>
              </a:rPr>
              <a:t>Statystyki uczestnictwa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577840"/>
            <a:ext cx="5257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F4E6C2"/>
                </a:solidFill>
                <a:latin typeface="Garamond"/>
              </a:rPr>
              <a:t>Ile osób wypełnia testy regularnie — bez wskazania kto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5029200"/>
            <a:ext cx="54864" cy="1371600"/>
          </a:xfrm>
          <a:prstGeom prst="rect">
            <a:avLst/>
          </a:prstGeom>
          <a:solidFill>
            <a:srgbClr val="D4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5074920"/>
            <a:ext cx="5257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D4AD48"/>
                </a:solidFill>
                <a:latin typeface="Garamond"/>
              </a:rPr>
              <a:t>Eksport PDF / CSV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5577840"/>
            <a:ext cx="5257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F4E6C2"/>
                </a:solidFill>
                <a:latin typeface="Garamond"/>
              </a:rPr>
              <a:t>Raport miesięczny dla zarządu jednym kliknięciem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7C46A"/>
                </a:solidFill>
                <a:latin typeface="Garamond"/>
              </a:rPr>
              <a:t>11 / 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22815" y="64008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D4AD48"/>
                </a:solidFill>
                <a:latin typeface="Garamond"/>
              </a:rPr>
              <a:t>MOODFLOW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2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8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8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18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18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18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 thruBlk="0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694944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D4AD48"/>
                </a:solidFill>
                <a:latin typeface="Garamond"/>
              </a:rPr>
              <a:t>Anonimowość, której nie da się obejść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694944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F4E6C2"/>
                </a:solidFill>
                <a:latin typeface="Garamond"/>
              </a:rPr>
              <a:t>K-anonymity wbudowane w warstwę API. Nie da się wymusić pokazania danych pojedynczej osoby — nawet z konta administratora.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91840"/>
            <a:ext cx="6949440" cy="3200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400" b="0">
                <a:solidFill>
                  <a:srgbClr val="F4E6C2"/>
                </a:solidFill>
                <a:latin typeface="Garamond"/>
              </a:rPr>
              <a:t>Próg minimum 5 odpowiedzi do prezentacji wyniku w panelu HR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400" b="0">
                <a:solidFill>
                  <a:srgbClr val="F4E6C2"/>
                </a:solidFill>
                <a:latin typeface="Garamond"/>
              </a:rPr>
              <a:t>Komunikat zwracany zamiast danych, gdy próg nie jest spełniony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400" b="0">
                <a:solidFill>
                  <a:srgbClr val="F4E6C2"/>
                </a:solidFill>
                <a:latin typeface="Garamond"/>
              </a:rPr>
              <a:t>Brak imion, nazwisk i e-maili w jakimkolwiek widoku HR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400" b="0">
                <a:solidFill>
                  <a:srgbClr val="F4E6C2"/>
                </a:solidFill>
                <a:latin typeface="Garamond"/>
              </a:rPr>
              <a:t>Logika anonimizacji w backendzie — frontend nie dostaje surowych danych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400" b="0">
                <a:solidFill>
                  <a:srgbClr val="F4E6C2"/>
                </a:solidFill>
                <a:latin typeface="Garamond"/>
              </a:rPr>
              <a:t>Audytowane logi dostępu (kto, kiedy, do jakiego raportu)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0" y="365760"/>
            <a:ext cx="4023360" cy="6126480"/>
          </a:xfrm>
          <a:prstGeom prst="rect">
            <a:avLst/>
          </a:prstGeom>
          <a:solidFill>
            <a:srgbClr val="F4E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554480"/>
            <a:ext cx="4023360" cy="2377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rmAutofit/>
          </a:bodyPr>
          <a:lstStyle/>
          <a:p>
            <a:pPr algn="ctr"/>
            <a:r>
              <a:rPr sz="13000" b="1" i="0">
                <a:solidFill>
                  <a:srgbClr val="1D3E44"/>
                </a:solidFill>
                <a:latin typeface="Garamond"/>
              </a:rPr>
              <a:t>k ≥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4297680"/>
            <a:ext cx="356616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 i="0">
                <a:solidFill>
                  <a:srgbClr val="5A5E2C"/>
                </a:solidFill>
                <a:latin typeface="Garamond"/>
              </a:rPr>
              <a:t>każdy widoczny w raporcie wynik dotyczy co najmniej 5 osób — pojedynczy pracownik nigdy nie zostanie zidentyfikowany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7C46A"/>
                </a:solidFill>
                <a:latin typeface="Garamond"/>
              </a:rPr>
              <a:t>12 /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22815" y="64008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D4AD48"/>
                </a:solidFill>
                <a:latin typeface="Garamond"/>
              </a:rPr>
              <a:t>MOODFLOW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2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30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30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30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0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 thruBlk="0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E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200" b="1" i="0">
                <a:solidFill>
                  <a:srgbClr val="D4AD48"/>
                </a:solidFill>
                <a:latin typeface="Garamond"/>
              </a:rPr>
              <a:t>Dla kogo zbudowaliśmy MoodFlow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94560"/>
            <a:ext cx="3484778" cy="2743200"/>
          </a:xfrm>
          <a:prstGeom prst="roundRect">
            <a:avLst>
              <a:gd name="adj" fmla="val 6000"/>
            </a:avLst>
          </a:prstGeom>
          <a:solidFill>
            <a:srgbClr val="16323A"/>
          </a:solidFill>
          <a:ln w="17780">
            <a:solidFill>
              <a:srgbClr val="D4A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0"/>
            <a:ext cx="3484778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D4AD48"/>
                </a:solidFill>
                <a:latin typeface="Garamond"/>
              </a:rPr>
              <a:t>Średnie i duże firmy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20440"/>
            <a:ext cx="2936138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F4E6C2"/>
                </a:solidFill>
                <a:latin typeface="Garamond"/>
              </a:rPr>
              <a:t>50–2000 pracowników</a:t>
            </a:r>
          </a:p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F4E6C2"/>
                </a:solidFill>
                <a:latin typeface="Garamond"/>
              </a:rPr>
              <a:t>struktura działowa</a:t>
            </a:r>
          </a:p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F4E6C2"/>
                </a:solidFill>
                <a:latin typeface="Garamond"/>
              </a:rPr>
              <a:t>presja retencji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3458" y="2194560"/>
            <a:ext cx="3484778" cy="2743200"/>
          </a:xfrm>
          <a:prstGeom prst="roundRect">
            <a:avLst>
              <a:gd name="adj" fmla="val 6000"/>
            </a:avLst>
          </a:prstGeom>
          <a:solidFill>
            <a:srgbClr val="16323A"/>
          </a:solidFill>
          <a:ln w="17780">
            <a:solidFill>
              <a:srgbClr val="D4A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53458" y="2560320"/>
            <a:ext cx="3484778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D4AD48"/>
                </a:solidFill>
                <a:latin typeface="Garamond"/>
              </a:rPr>
              <a:t>Działy HR i People 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27778" y="3520440"/>
            <a:ext cx="2936138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F4E6C2"/>
                </a:solidFill>
                <a:latin typeface="Garamond"/>
              </a:rPr>
              <a:t>wellbeing, kultura,</a:t>
            </a:r>
          </a:p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F4E6C2"/>
                </a:solidFill>
                <a:latin typeface="Garamond"/>
              </a:rPr>
              <a:t>zaangażowanie</a:t>
            </a:r>
          </a:p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F4E6C2"/>
                </a:solidFill>
                <a:latin typeface="Garamond"/>
              </a:rPr>
              <a:t>programy retencyjne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6836" y="2194560"/>
            <a:ext cx="3484778" cy="2743200"/>
          </a:xfrm>
          <a:prstGeom prst="roundRect">
            <a:avLst>
              <a:gd name="adj" fmla="val 6000"/>
            </a:avLst>
          </a:prstGeom>
          <a:solidFill>
            <a:srgbClr val="16323A"/>
          </a:solidFill>
          <a:ln w="17780">
            <a:solidFill>
              <a:srgbClr val="D4A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66836" y="2560320"/>
            <a:ext cx="3484778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D4AD48"/>
                </a:solidFill>
                <a:latin typeface="Garamond"/>
              </a:rPr>
              <a:t>Menedżerowie liniowi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1156" y="3520440"/>
            <a:ext cx="2936138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F4E6C2"/>
                </a:solidFill>
                <a:latin typeface="Garamond"/>
              </a:rPr>
              <a:t>wczesne wykrywanie</a:t>
            </a:r>
          </a:p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F4E6C2"/>
                </a:solidFill>
                <a:latin typeface="Garamond"/>
              </a:rPr>
              <a:t>przeciążeń w zespołach</a:t>
            </a:r>
          </a:p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F4E6C2"/>
                </a:solidFill>
                <a:latin typeface="Garamond"/>
              </a:rPr>
              <a:t>bez zaglądania w prywatność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440680"/>
            <a:ext cx="10911535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0" i="1">
                <a:solidFill>
                  <a:srgbClr val="E7C46A"/>
                </a:solidFill>
                <a:latin typeface="Garamond"/>
              </a:rPr>
              <a:t>Pracownik dostaje narzędzie, które naprawdę go słucha — bez raportowania imiennego do szefa.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7C46A"/>
                </a:solidFill>
                <a:latin typeface="Garamond"/>
              </a:rPr>
              <a:t>13 / 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22815" y="64008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D4AD48"/>
                </a:solidFill>
                <a:latin typeface="Garamond"/>
              </a:rPr>
              <a:t>MOODFLOW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2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30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30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30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push dir="l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D4AD48"/>
                </a:solidFill>
                <a:latin typeface="Garamond"/>
              </a:rPr>
              <a:t>Czym MoodFlow różni się od ankiet pulse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691640"/>
            <a:ext cx="54864" cy="1417320"/>
          </a:xfrm>
          <a:prstGeom prst="rect">
            <a:avLst/>
          </a:prstGeom>
          <a:solidFill>
            <a:srgbClr val="E7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D4AD48"/>
                </a:solidFill>
                <a:latin typeface="Garamond"/>
              </a:rPr>
              <a:t>Walidowane skale, nie ankiety satysfakcji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52120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4E6C2"/>
                </a:solidFill>
                <a:latin typeface="Garamond"/>
              </a:rPr>
              <a:t>PHQ-9, GAD-7 i WHO-5 są używane przez psychologów klinicznych — wyniki są porównywalne i mają wartość naukową.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691640"/>
            <a:ext cx="54864" cy="1417320"/>
          </a:xfrm>
          <a:prstGeom prst="rect">
            <a:avLst/>
          </a:prstGeom>
          <a:solidFill>
            <a:srgbClr val="E7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737360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D4AD48"/>
                </a:solidFill>
                <a:latin typeface="Garamond"/>
              </a:rPr>
              <a:t>Anonimowość gwarantowana technicznie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2194560"/>
            <a:ext cx="52120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4E6C2"/>
                </a:solidFill>
                <a:latin typeface="Garamond"/>
              </a:rPr>
              <a:t>K-anonymity wymuszone w backendzie. Konkurencja często polega tylko na polityce prywatności.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73552"/>
            <a:ext cx="54864" cy="1417320"/>
          </a:xfrm>
          <a:prstGeom prst="rect">
            <a:avLst/>
          </a:prstGeom>
          <a:solidFill>
            <a:srgbClr val="E7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319272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D4AD48"/>
                </a:solidFill>
                <a:latin typeface="Garamond"/>
              </a:rPr>
              <a:t>Multi-tenant od dnia pierwszego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76472"/>
            <a:ext cx="52120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4E6C2"/>
                </a:solidFill>
                <a:latin typeface="Garamond"/>
              </a:rPr>
              <a:t>Twoja firma ma własną przestrzeń danych — żadnego wspólnego zbioru z innymi klientami.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3273552"/>
            <a:ext cx="54864" cy="1417320"/>
          </a:xfrm>
          <a:prstGeom prst="rect">
            <a:avLst/>
          </a:prstGeom>
          <a:solidFill>
            <a:srgbClr val="E7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3319272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D4AD48"/>
                </a:solidFill>
                <a:latin typeface="Garamond"/>
              </a:rPr>
              <a:t>Tryb safety-net dla osób w kryzysie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776472"/>
            <a:ext cx="52120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4E6C2"/>
                </a:solidFill>
                <a:latin typeface="Garamond"/>
              </a:rPr>
              <a:t>Aplikacja sama rozpoznaje sygnały ryzyka i podaje numery telefonów zaufania — bez angażowania HR.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855464"/>
            <a:ext cx="54864" cy="1417320"/>
          </a:xfrm>
          <a:prstGeom prst="rect">
            <a:avLst/>
          </a:prstGeom>
          <a:solidFill>
            <a:srgbClr val="E7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901184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D4AD48"/>
                </a:solidFill>
                <a:latin typeface="Garamond"/>
              </a:rPr>
              <a:t>PWA — działa na każdym telefonie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358384"/>
            <a:ext cx="52120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4E6C2"/>
                </a:solidFill>
                <a:latin typeface="Garamond"/>
              </a:rPr>
              <a:t>Bez App Store, bez Google Play, bez instalacji. Pracownik klika link i ma pełną aplikację.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4855464"/>
            <a:ext cx="54864" cy="1417320"/>
          </a:xfrm>
          <a:prstGeom prst="rect">
            <a:avLst/>
          </a:prstGeom>
          <a:solidFill>
            <a:srgbClr val="E7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901184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D4AD48"/>
                </a:solidFill>
                <a:latin typeface="Garamond"/>
              </a:rPr>
              <a:t>Open scoring, nie black-box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5358384"/>
            <a:ext cx="52120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4E6C2"/>
                </a:solidFill>
                <a:latin typeface="Garamond"/>
              </a:rPr>
              <a:t>Cała logika scoringu jest udokumentowana i powtarzalna — bez ukrytej magii AI.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7C46A"/>
                </a:solidFill>
                <a:latin typeface="Garamond"/>
              </a:rPr>
              <a:t>14 / 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22815" y="64008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D4AD48"/>
                </a:solidFill>
                <a:latin typeface="Garamond"/>
              </a:rPr>
              <a:t>MOODFLOW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2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8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8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18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18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18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 thruBlk="0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46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D4AD48"/>
                </a:solidFill>
                <a:latin typeface="Garamond"/>
              </a:rPr>
              <a:t>Bezpieczeństwo i zgodność z RODO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1091153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1">
                <a:solidFill>
                  <a:srgbClr val="F4E6C2"/>
                </a:solidFill>
                <a:latin typeface="Garamond"/>
              </a:rPr>
              <a:t>Dane o zdrowiu psychicznym należą do kategorii szczególnej w sensie RODO. Tak je traktujemy.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331720"/>
            <a:ext cx="54864" cy="1325880"/>
          </a:xfrm>
          <a:prstGeom prst="rect">
            <a:avLst/>
          </a:prstGeom>
          <a:solidFill>
            <a:srgbClr val="E7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D4AD48"/>
                </a:solidFill>
                <a:latin typeface="Garamond"/>
              </a:rPr>
              <a:t>Multi-tenant izolacja na poziomie 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52120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4E6C2"/>
                </a:solidFill>
                <a:latin typeface="Garamond"/>
              </a:rPr>
              <a:t>Każde zapytanie filtrowane po tenant_id — brak ryzyka wycieku między firmami.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2331720"/>
            <a:ext cx="54864" cy="1325880"/>
          </a:xfrm>
          <a:prstGeom prst="rect">
            <a:avLst/>
          </a:prstGeom>
          <a:solidFill>
            <a:srgbClr val="E7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2377440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D4AD48"/>
                </a:solidFill>
                <a:latin typeface="Garamond"/>
              </a:rPr>
              <a:t>JWT + refresh tokens + 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834640"/>
            <a:ext cx="52120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4E6C2"/>
                </a:solidFill>
                <a:latin typeface="Garamond"/>
              </a:rPr>
              <a:t>3 role: pracownik, HR, admin. Strażnicy ról walidowani na backendzie.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794760"/>
            <a:ext cx="54864" cy="1325880"/>
          </a:xfrm>
          <a:prstGeom prst="rect">
            <a:avLst/>
          </a:prstGeom>
          <a:solidFill>
            <a:srgbClr val="E7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840480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D4AD48"/>
                </a:solidFill>
                <a:latin typeface="Garamond"/>
              </a:rPr>
              <a:t>bcrypt + walidacja siły hasła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97680"/>
            <a:ext cx="52120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4E6C2"/>
                </a:solidFill>
                <a:latin typeface="Garamond"/>
              </a:rPr>
              <a:t>Hasła nigdy nie trafiają do logów ani do bazy w postaci jawnej.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3794760"/>
            <a:ext cx="54864" cy="1325880"/>
          </a:xfrm>
          <a:prstGeom prst="rect">
            <a:avLst/>
          </a:prstGeom>
          <a:solidFill>
            <a:srgbClr val="E7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3840480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D4AD48"/>
                </a:solidFill>
                <a:latin typeface="Garamond"/>
              </a:rPr>
              <a:t>HTTPS, CORS, helmet, throttler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297680"/>
            <a:ext cx="52120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4E6C2"/>
                </a:solidFill>
                <a:latin typeface="Garamond"/>
              </a:rPr>
              <a:t>Rate limiting chroni endpoint logowania przed atakami brute-force.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257800"/>
            <a:ext cx="54864" cy="1325880"/>
          </a:xfrm>
          <a:prstGeom prst="rect">
            <a:avLst/>
          </a:prstGeom>
          <a:solidFill>
            <a:srgbClr val="E7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303520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D4AD48"/>
                </a:solidFill>
                <a:latin typeface="Garamond"/>
              </a:rPr>
              <a:t>Minimalizacja danych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760720"/>
            <a:ext cx="52120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4E6C2"/>
                </a:solidFill>
                <a:latin typeface="Garamond"/>
              </a:rPr>
              <a:t>Zbieramy tylko to, co potrzebne do scoringu. Nic więcej.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5257800"/>
            <a:ext cx="54864" cy="1325880"/>
          </a:xfrm>
          <a:prstGeom prst="rect">
            <a:avLst/>
          </a:prstGeom>
          <a:solidFill>
            <a:srgbClr val="E7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5303520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D4AD48"/>
                </a:solidFill>
                <a:latin typeface="Garamond"/>
              </a:rPr>
              <a:t>Audit log i prawo do usunięcia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760720"/>
            <a:ext cx="52120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4E6C2"/>
                </a:solidFill>
                <a:latin typeface="Garamond"/>
              </a:rPr>
              <a:t>Pełna historia operacji administracyjnych + soft-delete kont.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008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7C46A"/>
                </a:solidFill>
                <a:latin typeface="Garamond"/>
              </a:rPr>
              <a:t>15 / 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2815" y="64008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D4AD48"/>
                </a:solidFill>
                <a:latin typeface="Garamond"/>
              </a:rPr>
              <a:t>MOODFLOW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2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8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8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18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18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18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18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wipe dir="l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E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200" b="1" i="0">
                <a:solidFill>
                  <a:srgbClr val="D4AD48"/>
                </a:solidFill>
                <a:latin typeface="Garamond"/>
              </a:rPr>
              <a:t>Stack technologiczny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1091153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1">
                <a:solidFill>
                  <a:srgbClr val="F4E6C2"/>
                </a:solidFill>
                <a:latin typeface="Garamond"/>
              </a:rPr>
              <a:t>Nowoczesny. Sprawdzony. Gotowy do skalowania.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423160"/>
            <a:ext cx="3484778" cy="3749039"/>
          </a:xfrm>
          <a:prstGeom prst="roundRect">
            <a:avLst>
              <a:gd name="adj" fmla="val 6000"/>
            </a:avLst>
          </a:prstGeom>
          <a:solidFill>
            <a:srgbClr val="16323A"/>
          </a:solidFill>
          <a:ln w="12700">
            <a:solidFill>
              <a:srgbClr val="D4A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3484778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E7C46A"/>
                </a:solidFill>
                <a:latin typeface="Garamond"/>
              </a:rPr>
              <a:t>Frontend pracownika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83280"/>
            <a:ext cx="2936138" cy="2651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300" b="0">
                <a:solidFill>
                  <a:srgbClr val="F4E6C2"/>
                </a:solidFill>
                <a:latin typeface="Garamond"/>
              </a:rPr>
              <a:t>React 19 + TypeScript</a:t>
            </a:r>
          </a:p>
          <a:p>
            <a:pPr algn="l">
              <a:lnSpc>
                <a:spcPct val="145000"/>
              </a:lnSpc>
            </a:pPr>
            <a:r>
              <a:rPr sz="13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300" b="0">
                <a:solidFill>
                  <a:srgbClr val="F4E6C2"/>
                </a:solidFill>
                <a:latin typeface="Garamond"/>
              </a:rPr>
              <a:t>Vite (HMR, fast build)</a:t>
            </a:r>
          </a:p>
          <a:p>
            <a:pPr algn="l">
              <a:lnSpc>
                <a:spcPct val="145000"/>
              </a:lnSpc>
            </a:pPr>
            <a:r>
              <a:rPr sz="13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300" b="0">
                <a:solidFill>
                  <a:srgbClr val="F4E6C2"/>
                </a:solidFill>
                <a:latin typeface="Garamond"/>
              </a:rPr>
              <a:t>Tailwind CSS</a:t>
            </a:r>
          </a:p>
          <a:p>
            <a:pPr algn="l">
              <a:lnSpc>
                <a:spcPct val="145000"/>
              </a:lnSpc>
            </a:pPr>
            <a:r>
              <a:rPr sz="13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300" b="0">
                <a:solidFill>
                  <a:srgbClr val="F4E6C2"/>
                </a:solidFill>
                <a:latin typeface="Garamond"/>
              </a:rPr>
              <a:t>Redux Toolkit</a:t>
            </a:r>
          </a:p>
          <a:p>
            <a:pPr algn="l">
              <a:lnSpc>
                <a:spcPct val="145000"/>
              </a:lnSpc>
            </a:pPr>
            <a:r>
              <a:rPr sz="13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300" b="0">
                <a:solidFill>
                  <a:srgbClr val="F4E6C2"/>
                </a:solidFill>
                <a:latin typeface="Garamond"/>
              </a:rPr>
              <a:t>React Router v7</a:t>
            </a:r>
          </a:p>
          <a:p>
            <a:pPr algn="l">
              <a:lnSpc>
                <a:spcPct val="145000"/>
              </a:lnSpc>
            </a:pPr>
            <a:r>
              <a:rPr sz="13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300" b="0">
                <a:solidFill>
                  <a:srgbClr val="F4E6C2"/>
                </a:solidFill>
                <a:latin typeface="Garamond"/>
              </a:rPr>
              <a:t>Framer Motion</a:t>
            </a:r>
          </a:p>
          <a:p>
            <a:pPr algn="l">
              <a:lnSpc>
                <a:spcPct val="145000"/>
              </a:lnSpc>
            </a:pPr>
            <a:r>
              <a:rPr sz="13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300" b="0">
                <a:solidFill>
                  <a:srgbClr val="F4E6C2"/>
                </a:solidFill>
                <a:latin typeface="Garamond"/>
              </a:rPr>
              <a:t>PWA (offline-ready)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3458" y="2423160"/>
            <a:ext cx="3484778" cy="3749039"/>
          </a:xfrm>
          <a:prstGeom prst="roundRect">
            <a:avLst>
              <a:gd name="adj" fmla="val 6000"/>
            </a:avLst>
          </a:prstGeom>
          <a:solidFill>
            <a:srgbClr val="16323A"/>
          </a:solidFill>
          <a:ln w="12700">
            <a:solidFill>
              <a:srgbClr val="D4A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53458" y="2651760"/>
            <a:ext cx="3484778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E7C46A"/>
                </a:solidFill>
                <a:latin typeface="Garamond"/>
              </a:rPr>
              <a:t>Frontend HR / 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4938" y="3383280"/>
            <a:ext cx="2936138" cy="2651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300" b="0">
                <a:solidFill>
                  <a:srgbClr val="F4E6C2"/>
                </a:solidFill>
                <a:latin typeface="Garamond"/>
              </a:rPr>
              <a:t>Next.js 16 (App Router)</a:t>
            </a:r>
          </a:p>
          <a:p>
            <a:pPr algn="l">
              <a:lnSpc>
                <a:spcPct val="145000"/>
              </a:lnSpc>
            </a:pPr>
            <a:r>
              <a:rPr sz="13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300" b="0">
                <a:solidFill>
                  <a:srgbClr val="F4E6C2"/>
                </a:solidFill>
                <a:latin typeface="Garamond"/>
              </a:rPr>
              <a:t>React 19 + TypeScript</a:t>
            </a:r>
          </a:p>
          <a:p>
            <a:pPr algn="l">
              <a:lnSpc>
                <a:spcPct val="145000"/>
              </a:lnSpc>
            </a:pPr>
            <a:r>
              <a:rPr sz="13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300" b="0">
                <a:solidFill>
                  <a:srgbClr val="F4E6C2"/>
                </a:solidFill>
                <a:latin typeface="Garamond"/>
              </a:rPr>
              <a:t>Tailwind CSS v4</a:t>
            </a:r>
          </a:p>
          <a:p>
            <a:pPr algn="l">
              <a:lnSpc>
                <a:spcPct val="145000"/>
              </a:lnSpc>
            </a:pPr>
            <a:r>
              <a:rPr sz="13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300" b="0">
                <a:solidFill>
                  <a:srgbClr val="F4E6C2"/>
                </a:solidFill>
                <a:latin typeface="Garamond"/>
              </a:rPr>
              <a:t>Recharts (wykresy)</a:t>
            </a:r>
          </a:p>
          <a:p>
            <a:pPr algn="l">
              <a:lnSpc>
                <a:spcPct val="145000"/>
              </a:lnSpc>
            </a:pPr>
            <a:r>
              <a:rPr sz="13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300" b="0">
                <a:solidFill>
                  <a:srgbClr val="F4E6C2"/>
                </a:solidFill>
                <a:latin typeface="Garamond"/>
              </a:rPr>
              <a:t>jsPDF + html2canvas</a:t>
            </a:r>
          </a:p>
          <a:p>
            <a:pPr algn="l">
              <a:lnSpc>
                <a:spcPct val="145000"/>
              </a:lnSpc>
            </a:pPr>
            <a:r>
              <a:rPr sz="13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300" b="0">
                <a:solidFill>
                  <a:srgbClr val="F4E6C2"/>
                </a:solidFill>
                <a:latin typeface="Garamond"/>
              </a:rPr>
              <a:t>next-themes (dark mode)</a:t>
            </a:r>
          </a:p>
          <a:p>
            <a:pPr algn="l">
              <a:lnSpc>
                <a:spcPct val="145000"/>
              </a:lnSpc>
            </a:pPr>
            <a:r>
              <a:rPr sz="13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300" b="0">
                <a:solidFill>
                  <a:srgbClr val="F4E6C2"/>
                </a:solidFill>
                <a:latin typeface="Garamond"/>
              </a:rPr>
              <a:t>PWA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6836" y="2423160"/>
            <a:ext cx="3484778" cy="3749039"/>
          </a:xfrm>
          <a:prstGeom prst="roundRect">
            <a:avLst>
              <a:gd name="adj" fmla="val 6000"/>
            </a:avLst>
          </a:prstGeom>
          <a:solidFill>
            <a:srgbClr val="16323A"/>
          </a:solidFill>
          <a:ln w="12700">
            <a:solidFill>
              <a:srgbClr val="D4A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66836" y="2651760"/>
            <a:ext cx="3484778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E7C46A"/>
                </a:solidFill>
                <a:latin typeface="Garamond"/>
              </a:rPr>
              <a:t>Backend &amp; 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8316" y="3383280"/>
            <a:ext cx="2936138" cy="2651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300" b="0">
                <a:solidFill>
                  <a:srgbClr val="F4E6C2"/>
                </a:solidFill>
                <a:latin typeface="Garamond"/>
              </a:rPr>
              <a:t>NestJS 11 (TypeScript)</a:t>
            </a:r>
          </a:p>
          <a:p>
            <a:pPr algn="l">
              <a:lnSpc>
                <a:spcPct val="145000"/>
              </a:lnSpc>
            </a:pPr>
            <a:r>
              <a:rPr sz="13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300" b="0">
                <a:solidFill>
                  <a:srgbClr val="F4E6C2"/>
                </a:solidFill>
                <a:latin typeface="Garamond"/>
              </a:rPr>
              <a:t>TypeORM + migracje</a:t>
            </a:r>
          </a:p>
          <a:p>
            <a:pPr algn="l">
              <a:lnSpc>
                <a:spcPct val="145000"/>
              </a:lnSpc>
            </a:pPr>
            <a:r>
              <a:rPr sz="13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300" b="0">
                <a:solidFill>
                  <a:srgbClr val="F4E6C2"/>
                </a:solidFill>
                <a:latin typeface="Garamond"/>
              </a:rPr>
              <a:t>PostgreSQL 16</a:t>
            </a:r>
          </a:p>
          <a:p>
            <a:pPr algn="l">
              <a:lnSpc>
                <a:spcPct val="145000"/>
              </a:lnSpc>
            </a:pPr>
            <a:r>
              <a:rPr sz="13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300" b="0">
                <a:solidFill>
                  <a:srgbClr val="F4E6C2"/>
                </a:solidFill>
                <a:latin typeface="Garamond"/>
              </a:rPr>
              <a:t>JWT + Passport</a:t>
            </a:r>
          </a:p>
          <a:p>
            <a:pPr algn="l">
              <a:lnSpc>
                <a:spcPct val="145000"/>
              </a:lnSpc>
            </a:pPr>
            <a:r>
              <a:rPr sz="13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300" b="0">
                <a:solidFill>
                  <a:srgbClr val="F4E6C2"/>
                </a:solidFill>
                <a:latin typeface="Garamond"/>
              </a:rPr>
              <a:t>bcrypt, helmet, throttler</a:t>
            </a:r>
          </a:p>
          <a:p>
            <a:pPr algn="l">
              <a:lnSpc>
                <a:spcPct val="145000"/>
              </a:lnSpc>
            </a:pPr>
            <a:r>
              <a:rPr sz="13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300" b="0">
                <a:solidFill>
                  <a:srgbClr val="F4E6C2"/>
                </a:solidFill>
                <a:latin typeface="Garamond"/>
              </a:rPr>
              <a:t>Nodemailer</a:t>
            </a:r>
          </a:p>
          <a:p>
            <a:pPr algn="l">
              <a:lnSpc>
                <a:spcPct val="145000"/>
              </a:lnSpc>
            </a:pPr>
            <a:r>
              <a:rPr sz="13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300" b="0">
                <a:solidFill>
                  <a:srgbClr val="F4E6C2"/>
                </a:solidFill>
                <a:latin typeface="Garamond"/>
              </a:rPr>
              <a:t>class-validator (DTO)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1091153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E7C46A"/>
                </a:solidFill>
                <a:latin typeface="Garamond"/>
              </a:rPr>
              <a:t>Pełna konteneryzacja Docker · CI/CD ready · wdrożenie demonstracyjne na Railway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7C46A"/>
                </a:solidFill>
                <a:latin typeface="Garamond"/>
              </a:rPr>
              <a:t>16 / 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2815" y="64008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D4AD48"/>
                </a:solidFill>
                <a:latin typeface="Garamond"/>
              </a:rPr>
              <a:t>MOODFLOW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2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30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30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30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0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push dir="l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D4AD48"/>
                </a:solidFill>
                <a:latin typeface="Garamond"/>
              </a:rPr>
              <a:t>Architektura — modularna, multi-tenant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28800"/>
            <a:ext cx="3484778" cy="2286000"/>
          </a:xfrm>
          <a:prstGeom prst="roundRect">
            <a:avLst>
              <a:gd name="adj" fmla="val 6000"/>
            </a:avLst>
          </a:prstGeom>
          <a:solidFill>
            <a:srgbClr val="1D3E44"/>
          </a:solidFill>
          <a:ln w="17780">
            <a:solidFill>
              <a:srgbClr val="D4A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3484778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D4AD48"/>
                </a:solidFill>
                <a:latin typeface="Garamond"/>
              </a:rPr>
              <a:t>Client 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97480"/>
            <a:ext cx="3484778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 i="0">
                <a:solidFill>
                  <a:srgbClr val="F4E6C2"/>
                </a:solidFill>
                <a:latin typeface="Garamond"/>
              </a:rPr>
              <a:t>React + Vite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3484778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 i="0">
                <a:solidFill>
                  <a:srgbClr val="F4E6C2"/>
                </a:solidFill>
                <a:latin typeface="Garamond"/>
              </a:rPr>
              <a:t>port 3000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3484778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E7C46A"/>
                </a:solidFill>
                <a:latin typeface="Garamond"/>
              </a:rPr>
              <a:t>→ pracownik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3458" y="1828800"/>
            <a:ext cx="3484778" cy="2286000"/>
          </a:xfrm>
          <a:prstGeom prst="roundRect">
            <a:avLst>
              <a:gd name="adj" fmla="val 6000"/>
            </a:avLst>
          </a:prstGeom>
          <a:solidFill>
            <a:srgbClr val="1D3E44"/>
          </a:solidFill>
          <a:ln w="17780">
            <a:solidFill>
              <a:srgbClr val="D4A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53458" y="2057400"/>
            <a:ext cx="3484778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D4AD48"/>
                </a:solidFill>
                <a:latin typeface="Garamond"/>
              </a:rPr>
              <a:t>Admin 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53458" y="2697480"/>
            <a:ext cx="3484778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 i="0">
                <a:solidFill>
                  <a:srgbClr val="F4E6C2"/>
                </a:solidFill>
                <a:latin typeface="Garamond"/>
              </a:rPr>
              <a:t>Next.js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3458" y="3108960"/>
            <a:ext cx="3484778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 i="0">
                <a:solidFill>
                  <a:srgbClr val="F4E6C2"/>
                </a:solidFill>
                <a:latin typeface="Garamond"/>
              </a:rPr>
              <a:t>port 3001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3458" y="3566160"/>
            <a:ext cx="3484778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E7C46A"/>
                </a:solidFill>
                <a:latin typeface="Garamond"/>
              </a:rPr>
              <a:t>→ HR + admin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6836" y="1828800"/>
            <a:ext cx="3484778" cy="2286000"/>
          </a:xfrm>
          <a:prstGeom prst="roundRect">
            <a:avLst>
              <a:gd name="adj" fmla="val 6000"/>
            </a:avLst>
          </a:prstGeom>
          <a:solidFill>
            <a:srgbClr val="1D3E44"/>
          </a:solidFill>
          <a:ln w="17780">
            <a:solidFill>
              <a:srgbClr val="D4A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66836" y="2057400"/>
            <a:ext cx="3484778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D4AD48"/>
                </a:solidFill>
                <a:latin typeface="Garamond"/>
              </a:rPr>
              <a:t>Backend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6836" y="2697480"/>
            <a:ext cx="3484778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 i="0">
                <a:solidFill>
                  <a:srgbClr val="F4E6C2"/>
                </a:solidFill>
                <a:latin typeface="Garamond"/>
              </a:rPr>
              <a:t>NestJS 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6836" y="3108960"/>
            <a:ext cx="3484778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 i="0">
                <a:solidFill>
                  <a:srgbClr val="F4E6C2"/>
                </a:solidFill>
                <a:latin typeface="Garamond"/>
              </a:rPr>
              <a:t>port 4000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6836" y="3566160"/>
            <a:ext cx="3484778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E7C46A"/>
                </a:solidFill>
                <a:latin typeface="Garamond"/>
              </a:rPr>
              <a:t>→ logika domenowa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51960"/>
            <a:ext cx="1091153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0" i="0">
                <a:solidFill>
                  <a:srgbClr val="D4AD48"/>
                </a:solidFill>
                <a:latin typeface="Garamond"/>
              </a:rPr>
              <a:t>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4846320"/>
            <a:ext cx="5394960" cy="1097280"/>
          </a:xfrm>
          <a:prstGeom prst="roundRect">
            <a:avLst>
              <a:gd name="adj" fmla="val 6000"/>
            </a:avLst>
          </a:prstGeom>
          <a:solidFill>
            <a:srgbClr val="1D3E44"/>
          </a:solidFill>
          <a:ln w="19050">
            <a:solidFill>
              <a:srgbClr val="D4A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4983480"/>
            <a:ext cx="5394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D4AD48"/>
                </a:solidFill>
                <a:latin typeface="Garamond"/>
              </a:rPr>
              <a:t>PostgreSQL 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544068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F4E6C2"/>
                </a:solidFill>
                <a:latin typeface="Garamond"/>
              </a:rPr>
              <a:t>multi-tenant z dyskryminatorem tenant_id · pełne migracje TypeORM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E7C46A"/>
                </a:solidFill>
                <a:latin typeface="Garamond"/>
              </a:rPr>
              <a:t>Moduły: auth · users · approvals · organizations · departments · assessments · responses · results · mood-checks · analytics · reports · notifications · audit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008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7C46A"/>
                </a:solidFill>
                <a:latin typeface="Garamond"/>
              </a:rPr>
              <a:t>17 / 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2815" y="64008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D4AD48"/>
                </a:solidFill>
                <a:latin typeface="Garamond"/>
              </a:rPr>
              <a:t>MOODFLOW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2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20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20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0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20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20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 thruBlk="0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E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D4AD48"/>
                </a:solidFill>
                <a:latin typeface="Garamond"/>
              </a:rPr>
              <a:t>Zakres produktu — MoSCoW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1153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F4E6C2"/>
                </a:solidFill>
                <a:latin typeface="Garamond"/>
              </a:rPr>
              <a:t>Co jest gotowe dziś, co przyjdzie jutro.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2604439" cy="4160520"/>
          </a:xfrm>
          <a:prstGeom prst="roundRect">
            <a:avLst>
              <a:gd name="adj" fmla="val 6000"/>
            </a:avLst>
          </a:prstGeom>
          <a:solidFill>
            <a:srgbClr val="2D4631"/>
          </a:solidFill>
          <a:ln w="8890">
            <a:solidFill>
              <a:srgbClr val="D4A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30552"/>
            <a:ext cx="2604439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D4AD48"/>
                </a:solidFill>
                <a:latin typeface="Garamond"/>
              </a:rPr>
              <a:t>Must Have 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2238679" cy="3154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100" b="0">
                <a:solidFill>
                  <a:srgbClr val="F4E6C2"/>
                </a:solidFill>
                <a:latin typeface="Garamond"/>
              </a:rPr>
              <a:t>Logowanie i role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100" b="0">
                <a:solidFill>
                  <a:srgbClr val="F4E6C2"/>
                </a:solidFill>
                <a:latin typeface="Garamond"/>
              </a:rPr>
              <a:t>5 testów psychologicznych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100" b="0">
                <a:solidFill>
                  <a:srgbClr val="F4E6C2"/>
                </a:solidFill>
                <a:latin typeface="Garamond"/>
              </a:rPr>
              <a:t>Auto-scoring po stronie API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100" b="0">
                <a:solidFill>
                  <a:srgbClr val="F4E6C2"/>
                </a:solidFill>
                <a:latin typeface="Garamond"/>
              </a:rPr>
              <a:t>Anonimowy panel HR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100" b="0">
                <a:solidFill>
                  <a:srgbClr val="F4E6C2"/>
                </a:solidFill>
                <a:latin typeface="Garamond"/>
              </a:rPr>
              <a:t>K-anonymity (k ≥ 5)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100" b="0">
                <a:solidFill>
                  <a:srgbClr val="F4E6C2"/>
                </a:solidFill>
                <a:latin typeface="Garamond"/>
              </a:rPr>
              <a:t>Tryb safety-net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100" b="0">
                <a:solidFill>
                  <a:srgbClr val="F4E6C2"/>
                </a:solidFill>
                <a:latin typeface="Garamond"/>
              </a:rPr>
              <a:t>Multi-tenant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100" b="0">
                <a:solidFill>
                  <a:srgbClr val="F4E6C2"/>
                </a:solidFill>
                <a:latin typeface="Garamond"/>
              </a:rPr>
              <a:t>Zgodność z RODO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9111" y="1965960"/>
            <a:ext cx="2604439" cy="4160520"/>
          </a:xfrm>
          <a:prstGeom prst="roundRect">
            <a:avLst>
              <a:gd name="adj" fmla="val 6000"/>
            </a:avLst>
          </a:prstGeom>
          <a:solidFill>
            <a:srgbClr val="5A5E2C"/>
          </a:solidFill>
          <a:ln w="8890">
            <a:solidFill>
              <a:srgbClr val="D4A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09111" y="2130552"/>
            <a:ext cx="2604439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D4AD48"/>
                </a:solidFill>
                <a:latin typeface="Garamond"/>
              </a:rPr>
              <a:t>Should Have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7711" y="2743200"/>
            <a:ext cx="2238679" cy="3154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100" b="0">
                <a:solidFill>
                  <a:srgbClr val="F4E6C2"/>
                </a:solidFill>
                <a:latin typeface="Garamond"/>
              </a:rPr>
              <a:t>Filtrowanie po działach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100" b="0">
                <a:solidFill>
                  <a:srgbClr val="F4E6C2"/>
                </a:solidFill>
                <a:latin typeface="Garamond"/>
              </a:rPr>
              <a:t>Eksport PDF / CSV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100" b="0">
                <a:solidFill>
                  <a:srgbClr val="F4E6C2"/>
                </a:solidFill>
                <a:latin typeface="Garamond"/>
              </a:rPr>
              <a:t>Powiadomienia o testach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100" b="0">
                <a:solidFill>
                  <a:srgbClr val="F4E6C2"/>
                </a:solidFill>
                <a:latin typeface="Garamond"/>
              </a:rPr>
              <a:t>Analiza trendów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100" b="0">
                <a:solidFill>
                  <a:srgbClr val="F4E6C2"/>
                </a:solidFill>
                <a:latin typeface="Garamond"/>
              </a:rPr>
              <a:t>Responsywność i PWA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100" b="0">
                <a:solidFill>
                  <a:srgbClr val="F4E6C2"/>
                </a:solidFill>
                <a:latin typeface="Garamond"/>
              </a:rPr>
              <a:t>Skalowalność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965960"/>
            <a:ext cx="2604439" cy="4160520"/>
          </a:xfrm>
          <a:prstGeom prst="roundRect">
            <a:avLst>
              <a:gd name="adj" fmla="val 6000"/>
            </a:avLst>
          </a:prstGeom>
          <a:solidFill>
            <a:srgbClr val="8D7D1E"/>
          </a:solidFill>
          <a:ln w="8890">
            <a:solidFill>
              <a:srgbClr val="D4A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8143" y="2130552"/>
            <a:ext cx="2604439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D4AD48"/>
                </a:solidFill>
                <a:latin typeface="Garamond"/>
              </a:rPr>
              <a:t>Could Have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6743" y="2743200"/>
            <a:ext cx="2238679" cy="3154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100" b="0">
                <a:solidFill>
                  <a:srgbClr val="F4E6C2"/>
                </a:solidFill>
                <a:latin typeface="Garamond"/>
              </a:rPr>
              <a:t>Analiza sentymentu (NLP)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100" b="0">
                <a:solidFill>
                  <a:srgbClr val="F4E6C2"/>
                </a:solidFill>
                <a:latin typeface="Garamond"/>
              </a:rPr>
              <a:t>Buforowanie raportów HR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100" b="0">
                <a:solidFill>
                  <a:srgbClr val="F4E6C2"/>
                </a:solidFill>
                <a:latin typeface="Garamond"/>
              </a:rPr>
              <a:t>Rozszerzony audit log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100" b="0">
                <a:solidFill>
                  <a:srgbClr val="F4E6C2"/>
                </a:solidFill>
                <a:latin typeface="Garamond"/>
              </a:rPr>
              <a:t>Webhooki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100" b="0">
                <a:solidFill>
                  <a:srgbClr val="F4E6C2"/>
                </a:solidFill>
                <a:latin typeface="Garamond"/>
              </a:rPr>
              <a:t>Auto-podpowiedzi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47175" y="1965960"/>
            <a:ext cx="2604439" cy="4160520"/>
          </a:xfrm>
          <a:prstGeom prst="roundRect">
            <a:avLst>
              <a:gd name="adj" fmla="val 6000"/>
            </a:avLst>
          </a:prstGeom>
          <a:solidFill>
            <a:srgbClr val="B8125A"/>
          </a:solidFill>
          <a:ln w="8890">
            <a:solidFill>
              <a:srgbClr val="D4A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47175" y="2130552"/>
            <a:ext cx="2604439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D4AD48"/>
                </a:solidFill>
                <a:latin typeface="Garamond"/>
              </a:rPr>
              <a:t>Won't Have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75775" y="2743200"/>
            <a:ext cx="2238679" cy="3154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100" b="0">
                <a:solidFill>
                  <a:srgbClr val="F4E6C2"/>
                </a:solidFill>
                <a:latin typeface="Garamond"/>
              </a:rPr>
              <a:t>Diagnostyka kliniczna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100" b="0">
                <a:solidFill>
                  <a:srgbClr val="F4E6C2"/>
                </a:solidFill>
                <a:latin typeface="Garamond"/>
              </a:rPr>
              <a:t>Integracja SAP / Workday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100" b="0">
                <a:solidFill>
                  <a:srgbClr val="F4E6C2"/>
                </a:solidFill>
                <a:latin typeface="Garamond"/>
              </a:rPr>
              <a:t>Certyfikacja ISO 27001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100" b="0">
                <a:solidFill>
                  <a:srgbClr val="F4E6C2"/>
                </a:solidFill>
                <a:latin typeface="Garamond"/>
              </a:rPr>
              <a:t>Audyty korporacyjne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100" b="0">
                <a:solidFill>
                  <a:srgbClr val="F4E6C2"/>
                </a:solidFill>
                <a:latin typeface="Garamond"/>
              </a:rPr>
              <a:t>Skala milionów użytkowników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008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7C46A"/>
                </a:solidFill>
                <a:latin typeface="Garamond"/>
              </a:rPr>
              <a:t>18 / 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2815" y="64008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D4AD48"/>
                </a:solidFill>
                <a:latin typeface="Garamond"/>
              </a:rPr>
              <a:t>MOODFLOW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2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20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20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0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20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20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 thruBlk="0"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200" b="1" i="0">
                <a:solidFill>
                  <a:srgbClr val="D4AD48"/>
                </a:solidFill>
                <a:latin typeface="Garamond"/>
              </a:rPr>
              <a:t>Roadmapa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691640"/>
            <a:ext cx="54864" cy="1417320"/>
          </a:xfrm>
          <a:prstGeom prst="rect">
            <a:avLst/>
          </a:prstGeom>
          <a:solidFill>
            <a:srgbClr val="D4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D4AD48"/>
                </a:solidFill>
                <a:latin typeface="Garamond"/>
              </a:rPr>
              <a:t>Q3 2026 — pilot u 2–3 firm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52120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4E6C2"/>
                </a:solidFill>
                <a:latin typeface="Garamond"/>
              </a:rPr>
              <a:t>Pierwsze wdrożenia, kalibracja progów alertów, case studies.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691640"/>
            <a:ext cx="54864" cy="1417320"/>
          </a:xfrm>
          <a:prstGeom prst="rect">
            <a:avLst/>
          </a:prstGeom>
          <a:solidFill>
            <a:srgbClr val="D4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737360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D4AD48"/>
                </a:solidFill>
                <a:latin typeface="Garamond"/>
              </a:rPr>
              <a:t>Q4 2026 — analiza komentarzy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2194560"/>
            <a:ext cx="52120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4E6C2"/>
                </a:solidFill>
                <a:latin typeface="Garamond"/>
              </a:rPr>
              <a:t>Sentyment + automatyczne kategoryzowanie tematów (NLP).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73552"/>
            <a:ext cx="54864" cy="1417320"/>
          </a:xfrm>
          <a:prstGeom prst="rect">
            <a:avLst/>
          </a:prstGeom>
          <a:solidFill>
            <a:srgbClr val="D4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319272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D4AD48"/>
                </a:solidFill>
                <a:latin typeface="Garamond"/>
              </a:rPr>
              <a:t>Q1 2027 — moduł terapeutyczny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76472"/>
            <a:ext cx="52120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4E6C2"/>
                </a:solidFill>
                <a:latin typeface="Garamond"/>
              </a:rPr>
              <a:t>Integracja z platformami telemedycznymi — rezerwacja sesji z aplikacji.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3273552"/>
            <a:ext cx="54864" cy="1417320"/>
          </a:xfrm>
          <a:prstGeom prst="rect">
            <a:avLst/>
          </a:prstGeom>
          <a:solidFill>
            <a:srgbClr val="D4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3319272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D4AD48"/>
                </a:solidFill>
                <a:latin typeface="Garamond"/>
              </a:rPr>
              <a:t>2027 — benchmarking branżowy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776472"/>
            <a:ext cx="52120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4E6C2"/>
                </a:solidFill>
                <a:latin typeface="Garamond"/>
              </a:rPr>
              <a:t>Anonimowe porównanie wyników firmy do średniej w branży.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855464"/>
            <a:ext cx="54864" cy="1417320"/>
          </a:xfrm>
          <a:prstGeom prst="rect">
            <a:avLst/>
          </a:prstGeom>
          <a:solidFill>
            <a:srgbClr val="D4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901184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D4AD48"/>
                </a:solidFill>
                <a:latin typeface="Garamond"/>
              </a:rPr>
              <a:t>2027 — SSO / Slack / Teams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358384"/>
            <a:ext cx="52120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4E6C2"/>
                </a:solidFill>
                <a:latin typeface="Garamond"/>
              </a:rPr>
              <a:t>Logowanie korporacyjne, przypomnienia z poziomu komunikatora.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4855464"/>
            <a:ext cx="54864" cy="1417320"/>
          </a:xfrm>
          <a:prstGeom prst="rect">
            <a:avLst/>
          </a:prstGeom>
          <a:solidFill>
            <a:srgbClr val="D4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901184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D4AD48"/>
                </a:solidFill>
                <a:latin typeface="Garamond"/>
              </a:rPr>
              <a:t>Dalej — API publiczne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5358384"/>
            <a:ext cx="52120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F4E6C2"/>
                </a:solidFill>
                <a:latin typeface="Garamond"/>
              </a:rPr>
              <a:t>Otwarte API dla działów BI we własne dashboardy.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7C46A"/>
                </a:solidFill>
                <a:latin typeface="Garamond"/>
              </a:rPr>
              <a:t>19 / 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22815" y="64008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D4AD48"/>
                </a:solidFill>
                <a:latin typeface="Garamond"/>
              </a:rPr>
              <a:t>MOODFLOW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2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8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8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8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18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18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18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push dir="l"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E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200" b="1" i="0">
                <a:solidFill>
                  <a:srgbClr val="D4AD48"/>
                </a:solidFill>
                <a:latin typeface="Garamond"/>
              </a:rPr>
              <a:t>Model współpracy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1153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1">
                <a:solidFill>
                  <a:srgbClr val="F4E6C2"/>
                </a:solidFill>
                <a:latin typeface="Garamond"/>
              </a:rPr>
              <a:t>Subskrypcja per pracownik · bez ukrytych kosztów wdrożenia.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3484778" cy="4206240"/>
          </a:xfrm>
          <a:prstGeom prst="roundRect">
            <a:avLst>
              <a:gd name="adj" fmla="val 6000"/>
            </a:avLst>
          </a:prstGeom>
          <a:solidFill>
            <a:srgbClr val="16323A"/>
          </a:solidFill>
          <a:ln w="12700">
            <a:solidFill>
              <a:srgbClr val="D4A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3484778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D4AD48"/>
                </a:solidFill>
                <a:latin typeface="Garamond"/>
              </a:rP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3484778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rmAutofit/>
          </a:bodyPr>
          <a:lstStyle/>
          <a:p>
            <a:pPr algn="ctr"/>
            <a:r>
              <a:rPr sz="4200" b="1" i="0">
                <a:solidFill>
                  <a:srgbClr val="D4AD48"/>
                </a:solidFill>
                <a:latin typeface="Garamond"/>
              </a:rPr>
              <a:t>od 19 zł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80"/>
            <a:ext cx="3484778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E7C46A"/>
                </a:solidFill>
                <a:latin typeface="Garamond"/>
              </a:rPr>
              <a:t>/ pracownik / mies.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343400"/>
            <a:ext cx="2844698" cy="1737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200" b="0">
                <a:solidFill>
                  <a:srgbClr val="F4E6C2"/>
                </a:solidFill>
                <a:latin typeface="Garamond"/>
              </a:rPr>
              <a:t>do 50 pracowników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200" b="0">
                <a:solidFill>
                  <a:srgbClr val="F4E6C2"/>
                </a:solidFill>
                <a:latin typeface="Garamond"/>
              </a:rPr>
              <a:t>wszystkie 5 testów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200" b="0">
                <a:solidFill>
                  <a:srgbClr val="F4E6C2"/>
                </a:solidFill>
                <a:latin typeface="Garamond"/>
              </a:rPr>
              <a:t>panel HR + eksporty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200" b="0">
                <a:solidFill>
                  <a:srgbClr val="F4E6C2"/>
                </a:solidFill>
                <a:latin typeface="Garamond"/>
              </a:rPr>
              <a:t>wsparcie e-mail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3458" y="2011680"/>
            <a:ext cx="3484778" cy="4206240"/>
          </a:xfrm>
          <a:prstGeom prst="roundRect">
            <a:avLst>
              <a:gd name="adj" fmla="val 6000"/>
            </a:avLst>
          </a:prstGeom>
          <a:solidFill>
            <a:srgbClr val="244D55"/>
          </a:solidFill>
          <a:ln w="31750">
            <a:solidFill>
              <a:srgbClr val="E7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73498" y="1810512"/>
            <a:ext cx="2468880" cy="384048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D4A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000" b="1">
                <a:solidFill>
                  <a:srgbClr val="1D3E44"/>
                </a:solidFill>
                <a:latin typeface="Garamond"/>
              </a:rPr>
              <a:t>★ REKOMENDOWANY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3458" y="2286000"/>
            <a:ext cx="3484778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D4AD48"/>
                </a:solidFill>
                <a:latin typeface="Garamond"/>
              </a:rPr>
              <a:t>Business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3458" y="2880360"/>
            <a:ext cx="3484778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rmAutofit/>
          </a:bodyPr>
          <a:lstStyle/>
          <a:p>
            <a:pPr algn="ctr"/>
            <a:r>
              <a:rPr sz="4200" b="1" i="0">
                <a:solidFill>
                  <a:srgbClr val="D4AD48"/>
                </a:solidFill>
                <a:latin typeface="Garamond"/>
              </a:rPr>
              <a:t>od 14 zł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53458" y="3840480"/>
            <a:ext cx="3484778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E7C46A"/>
                </a:solidFill>
                <a:latin typeface="Garamond"/>
              </a:rPr>
              <a:t>/ pracownik / mies.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0658" y="4343400"/>
            <a:ext cx="2844698" cy="1737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200" b="0">
                <a:solidFill>
                  <a:srgbClr val="F4E6C2"/>
                </a:solidFill>
                <a:latin typeface="Garamond"/>
              </a:rPr>
              <a:t>50–500 pracowników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200" b="0">
                <a:solidFill>
                  <a:srgbClr val="F4E6C2"/>
                </a:solidFill>
                <a:latin typeface="Garamond"/>
              </a:rPr>
              <a:t>branding firmowy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200" b="0">
                <a:solidFill>
                  <a:srgbClr val="F4E6C2"/>
                </a:solidFill>
                <a:latin typeface="Garamond"/>
              </a:rPr>
              <a:t>custom progi alertów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200" b="0">
                <a:solidFill>
                  <a:srgbClr val="F4E6C2"/>
                </a:solidFill>
                <a:latin typeface="Garamond"/>
              </a:rPr>
              <a:t>onboarding + szkolenie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2011680"/>
            <a:ext cx="3484778" cy="4206240"/>
          </a:xfrm>
          <a:prstGeom prst="roundRect">
            <a:avLst>
              <a:gd name="adj" fmla="val 6000"/>
            </a:avLst>
          </a:prstGeom>
          <a:solidFill>
            <a:srgbClr val="16323A"/>
          </a:solidFill>
          <a:ln w="12700">
            <a:solidFill>
              <a:srgbClr val="D4A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6836" y="2286000"/>
            <a:ext cx="3484778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D4AD48"/>
                </a:solidFill>
                <a:latin typeface="Garamond"/>
              </a:rPr>
              <a:t>Enterprise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6836" y="2880360"/>
            <a:ext cx="3484778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normAutofit/>
          </a:bodyPr>
          <a:lstStyle/>
          <a:p>
            <a:pPr algn="ctr"/>
            <a:r>
              <a:rPr sz="4200" b="1" i="0">
                <a:solidFill>
                  <a:srgbClr val="D4AD48"/>
                </a:solidFill>
                <a:latin typeface="Garamond"/>
              </a:rPr>
              <a:t>indywid.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6836" y="3840480"/>
            <a:ext cx="3484778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E7C46A"/>
                </a:solidFill>
                <a:latin typeface="Garamond"/>
              </a:rPr>
              <a:t>wycena na firmę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4036" y="4343400"/>
            <a:ext cx="2844698" cy="1737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200" b="0">
                <a:solidFill>
                  <a:srgbClr val="F4E6C2"/>
                </a:solidFill>
                <a:latin typeface="Garamond"/>
              </a:rPr>
              <a:t>500+ pracowników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200" b="0">
                <a:solidFill>
                  <a:srgbClr val="F4E6C2"/>
                </a:solidFill>
                <a:latin typeface="Garamond"/>
              </a:rPr>
              <a:t>dedykowana instancja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200" b="0">
                <a:solidFill>
                  <a:srgbClr val="F4E6C2"/>
                </a:solidFill>
                <a:latin typeface="Garamond"/>
              </a:rPr>
              <a:t>SSO + integracje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D4AD48"/>
                </a:solidFill>
                <a:latin typeface="Garamond"/>
              </a:rPr>
              <a:t>●  </a:t>
            </a:r>
            <a:r>
              <a:rPr sz="1200" b="0">
                <a:solidFill>
                  <a:srgbClr val="F4E6C2"/>
                </a:solidFill>
                <a:latin typeface="Garamond"/>
              </a:rPr>
              <a:t>SLA 99,9%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1091153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E7C46A"/>
                </a:solidFill>
                <a:latin typeface="Garamond"/>
              </a:rPr>
              <a:t>Cennik referencyjny — finalna wycena uwzględnia liczbę osób, model wdrożenia i SLA.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7C46A"/>
                </a:solidFill>
                <a:latin typeface="Garamond"/>
              </a:rPr>
              <a:t>20 / 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22815" y="640080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D4AD48"/>
                </a:solidFill>
                <a:latin typeface="Garamond"/>
              </a:rPr>
              <a:t>MOODFLOW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2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30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30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30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0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push dir="l"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E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0" y="0"/>
            <a:ext cx="5333695" cy="6858000"/>
          </a:xfrm>
          <a:prstGeom prst="rect">
            <a:avLst/>
          </a:prstGeom>
          <a:solidFill>
            <a:srgbClr val="F4E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6095847" cy="274320"/>
          </a:xfrm>
          <a:prstGeom prst="rect">
            <a:avLst/>
          </a:prstGeom>
          <a:solidFill>
            <a:srgbClr val="2D8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6583680"/>
            <a:ext cx="6095847" cy="274320"/>
          </a:xfrm>
          <a:prstGeom prst="rect">
            <a:avLst/>
          </a:prstGeom>
          <a:solidFill>
            <a:srgbClr val="D4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640080"/>
            <a:ext cx="1828800" cy="384048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D4A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100" b="1">
                <a:solidFill>
                  <a:srgbClr val="D4AD48"/>
                </a:solidFill>
                <a:latin typeface="Garamond"/>
              </a:rPr>
              <a:t>POROZMAWIAJMY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64008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D4AD48"/>
                </a:solidFill>
                <a:latin typeface="Garamond"/>
              </a:rPr>
              <a:t>Pokażmy MoodFlow</a:t>
            </a:r>
          </a:p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D4AD48"/>
                </a:solidFill>
                <a:latin typeface="Garamond"/>
              </a:rPr>
              <a:t>na danych Twojej firmy.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20440"/>
            <a:ext cx="640080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F4E6C2"/>
                </a:solidFill>
                <a:latin typeface="Garamond"/>
              </a:rPr>
              <a:t>45-minutowe demo na żywo + symulacja raportu HR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F4E6C2"/>
                </a:solidFill>
                <a:latin typeface="Garamond"/>
              </a:rPr>
              <a:t>na fikcyjnych danych Twojej organizacji.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83480"/>
            <a:ext cx="6400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D4AD48"/>
                </a:solidFill>
                <a:latin typeface="Garamond"/>
              </a:rPr>
              <a:t>Mateusz Matczuk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94960"/>
            <a:ext cx="6400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Garamond"/>
              </a:rPr>
              <a:t>mateusz.matczuk.it@gmail.com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943600"/>
            <a:ext cx="2286000" cy="502920"/>
          </a:xfrm>
          <a:prstGeom prst="roundRect">
            <a:avLst>
              <a:gd name="adj" fmla="val 6000"/>
            </a:avLst>
          </a:prstGeom>
          <a:solidFill>
            <a:srgbClr val="D4A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98932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D3E44"/>
                </a:solidFill>
                <a:latin typeface="Garamond"/>
              </a:rPr>
              <a:t>Umów demo  →</a:t>
            </a:r>
          </a:p>
        </p:txBody>
      </p:sp>
      <p:sp>
        <p:nvSpPr>
          <p:cNvPr id="12" name="Oval 11"/>
          <p:cNvSpPr/>
          <p:nvPr/>
        </p:nvSpPr>
        <p:spPr>
          <a:xfrm>
            <a:off x="9509760" y="2103120"/>
            <a:ext cx="1097280" cy="1097280"/>
          </a:xfrm>
          <a:prstGeom prst="ellipse">
            <a:avLst/>
          </a:prstGeom>
          <a:noFill/>
          <a:ln w="31750">
            <a:solidFill>
              <a:srgbClr val="D4A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84080" y="2377440"/>
            <a:ext cx="548640" cy="548640"/>
          </a:xfrm>
          <a:prstGeom prst="ellipse">
            <a:avLst/>
          </a:prstGeom>
          <a:noFill/>
          <a:ln w="22860">
            <a:solidFill>
              <a:srgbClr val="D4A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970617" y="2563977"/>
            <a:ext cx="175564" cy="175564"/>
          </a:xfrm>
          <a:prstGeom prst="ellipse">
            <a:avLst/>
          </a:prstGeom>
          <a:solidFill>
            <a:srgbClr val="D4A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3383280"/>
            <a:ext cx="5333695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6600" b="1" i="0">
                <a:solidFill>
                  <a:srgbClr val="1D3E44"/>
                </a:solidFill>
                <a:latin typeface="Garamond"/>
              </a:rPr>
              <a:t>MoodFlow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480560"/>
            <a:ext cx="5333695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5A5E2C"/>
                </a:solidFill>
                <a:latin typeface="Garamond"/>
              </a:rPr>
              <a:t>ZDROWY ZESPÓŁ. MIERZALNY POSTĘP.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2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30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30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30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0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30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30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30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